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863797" y="2498883"/>
            <a:ext cx="8477760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KTM Workshop Management System</a:t>
            </a:r>
          </a:p>
        </p:txBody>
      </p:sp>
      <p:sp>
        <p:nvSpPr>
          <p:cNvPr id="174" name="Text 1"/>
          <p:cNvSpPr txBox="1"/>
          <p:nvPr/>
        </p:nvSpPr>
        <p:spPr>
          <a:xfrm>
            <a:off x="863797" y="3544251"/>
            <a:ext cx="9703105" cy="37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2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 Relational Database Management System for Centralized Workshop Operations</a:t>
            </a:r>
          </a:p>
        </p:txBody>
      </p:sp>
      <p:sp>
        <p:nvSpPr>
          <p:cNvPr id="175" name="Text 2"/>
          <p:cNvSpPr txBox="1"/>
          <p:nvPr/>
        </p:nvSpPr>
        <p:spPr>
          <a:xfrm>
            <a:off x="863797" y="4191953"/>
            <a:ext cx="12902805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Developed By:</a:t>
            </a:r>
            <a:r>
              <a:rPr b="0"/>
              <a:t>Aryan Rajesh Gadam – 123CS0020Tagore Jagata – 123CS0042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863797" y="5406747"/>
            <a:ext cx="10511682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Platform:</a:t>
            </a:r>
            <a:r>
              <a:rPr b="0"/>
              <a:t> PostgreSQL 12 | </a:t>
            </a:r>
            <a:r>
              <a:t>Core Concepts:</a:t>
            </a:r>
            <a:r>
              <a:rPr b="0"/>
              <a:t> ER Modeling, Normalization (3NF), Triggers, Referential Integrity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 txBox="1"/>
          <p:nvPr/>
        </p:nvSpPr>
        <p:spPr>
          <a:xfrm>
            <a:off x="863798" y="2064781"/>
            <a:ext cx="8943864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Project Overview &amp; Problem Statement</a:t>
            </a:r>
          </a:p>
        </p:txBody>
      </p:sp>
      <p:sp>
        <p:nvSpPr>
          <p:cNvPr id="179" name="Shape 1"/>
          <p:cNvSpPr/>
          <p:nvPr/>
        </p:nvSpPr>
        <p:spPr>
          <a:xfrm>
            <a:off x="863797" y="3110151"/>
            <a:ext cx="4156949" cy="2487811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"/>
          <p:cNvSpPr txBox="1"/>
          <p:nvPr/>
        </p:nvSpPr>
        <p:spPr>
          <a:xfrm>
            <a:off x="1079658" y="3326010"/>
            <a:ext cx="1661860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The Challenge</a:t>
            </a:r>
          </a:p>
        </p:txBody>
      </p:sp>
      <p:sp>
        <p:nvSpPr>
          <p:cNvPr id="181" name="Text 3"/>
          <p:cNvSpPr txBox="1"/>
          <p:nvPr/>
        </p:nvSpPr>
        <p:spPr>
          <a:xfrm>
            <a:off x="1079658" y="3762256"/>
            <a:ext cx="3725230" cy="189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KTM's nationwide workshop network relied on manual Excel-based systems, creating redundancy, inconsistent calculations, and inaccurate financial reporting across regions.</a:t>
            </a:r>
          </a:p>
        </p:txBody>
      </p:sp>
      <p:sp>
        <p:nvSpPr>
          <p:cNvPr id="182" name="Shape 4"/>
          <p:cNvSpPr/>
          <p:nvPr/>
        </p:nvSpPr>
        <p:spPr>
          <a:xfrm>
            <a:off x="5236607" y="3110151"/>
            <a:ext cx="4157068" cy="2487811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5"/>
          <p:cNvSpPr txBox="1"/>
          <p:nvPr/>
        </p:nvSpPr>
        <p:spPr>
          <a:xfrm>
            <a:off x="5452467" y="3326010"/>
            <a:ext cx="1473697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184" name="Text 6"/>
          <p:cNvSpPr txBox="1"/>
          <p:nvPr/>
        </p:nvSpPr>
        <p:spPr>
          <a:xfrm>
            <a:off x="5452467" y="3762255"/>
            <a:ext cx="3725348" cy="1256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 fully automated PostgreSQL relational database achieving Third Normal Form with triggers for real-time performance and profit calculation.</a:t>
            </a:r>
          </a:p>
        </p:txBody>
      </p:sp>
      <p:sp>
        <p:nvSpPr>
          <p:cNvPr id="185" name="Shape 7"/>
          <p:cNvSpPr/>
          <p:nvPr/>
        </p:nvSpPr>
        <p:spPr>
          <a:xfrm>
            <a:off x="9609534" y="3110151"/>
            <a:ext cx="4157068" cy="2487811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8"/>
          <p:cNvSpPr txBox="1"/>
          <p:nvPr/>
        </p:nvSpPr>
        <p:spPr>
          <a:xfrm>
            <a:off x="9825394" y="3326010"/>
            <a:ext cx="1474404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Key Benefits</a:t>
            </a:r>
          </a:p>
        </p:txBody>
      </p:sp>
      <p:sp>
        <p:nvSpPr>
          <p:cNvPr id="187" name="Text 9"/>
          <p:cNvSpPr txBox="1"/>
          <p:nvPr/>
        </p:nvSpPr>
        <p:spPr>
          <a:xfrm>
            <a:off x="9825394" y="3762256"/>
            <a:ext cx="3725348" cy="157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Single source of truth, 70% reduction in administrative time, zero redundancy, 100% data consistency, and cascading referential integrity across all workshop records.</a:t>
            </a:r>
          </a:p>
        </p:txBody>
      </p:sp>
      <p:sp>
        <p:nvSpPr>
          <p:cNvPr id="188" name="Text 10"/>
          <p:cNvSpPr txBox="1"/>
          <p:nvPr/>
        </p:nvSpPr>
        <p:spPr>
          <a:xfrm>
            <a:off x="863797" y="5840848"/>
            <a:ext cx="85492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Core Modules:</a:t>
            </a:r>
            <a:r>
              <a:rPr b="0"/>
              <a:t> Workshop, Area, Area Incharge, Workshop Incharge, Revenue, Manages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 txBox="1"/>
          <p:nvPr/>
        </p:nvSpPr>
        <p:spPr>
          <a:xfrm>
            <a:off x="863797" y="1430536"/>
            <a:ext cx="8897207" cy="598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Entity-Relationship Model Architecture</a:t>
            </a:r>
          </a:p>
        </p:txBody>
      </p:sp>
      <p:sp>
        <p:nvSpPr>
          <p:cNvPr id="191" name="Text 1"/>
          <p:cNvSpPr txBox="1"/>
          <p:nvPr/>
        </p:nvSpPr>
        <p:spPr>
          <a:xfrm>
            <a:off x="863797" y="2583775"/>
            <a:ext cx="1930259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Six Core Entities</a:t>
            </a:r>
          </a:p>
        </p:txBody>
      </p:sp>
      <p:sp>
        <p:nvSpPr>
          <p:cNvPr id="192" name="Text 2"/>
          <p:cNvSpPr txBox="1"/>
          <p:nvPr/>
        </p:nvSpPr>
        <p:spPr>
          <a:xfrm>
            <a:off x="863797" y="3106341"/>
            <a:ext cx="6187918" cy="62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AREA_INCHARGE:</a:t>
            </a:r>
            <a:r>
              <a:rPr b="0"/>
              <a:t> Regional supervisors managing multiple areas</a:t>
            </a:r>
          </a:p>
        </p:txBody>
      </p:sp>
      <p:sp>
        <p:nvSpPr>
          <p:cNvPr id="193" name="Text 3"/>
          <p:cNvSpPr txBox="1"/>
          <p:nvPr/>
        </p:nvSpPr>
        <p:spPr>
          <a:xfrm>
            <a:off x="863797" y="3829763"/>
            <a:ext cx="568352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AREA:</a:t>
            </a:r>
            <a:r>
              <a:rPr b="0"/>
              <a:t> Geographical regions with assigned supervisors</a:t>
            </a:r>
          </a:p>
        </p:txBody>
      </p:sp>
      <p:sp>
        <p:nvSpPr>
          <p:cNvPr id="194" name="Text 4"/>
          <p:cNvSpPr txBox="1"/>
          <p:nvPr/>
        </p:nvSpPr>
        <p:spPr>
          <a:xfrm>
            <a:off x="863797" y="4229218"/>
            <a:ext cx="6187918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WORKSHOP:</a:t>
            </a:r>
            <a:r>
              <a:rPr b="0"/>
              <a:t> Individual service centers with performance metrics</a:t>
            </a:r>
          </a:p>
        </p:txBody>
      </p:sp>
      <p:sp>
        <p:nvSpPr>
          <p:cNvPr id="195" name="Text 5"/>
          <p:cNvSpPr txBox="1"/>
          <p:nvPr/>
        </p:nvSpPr>
        <p:spPr>
          <a:xfrm>
            <a:off x="863797" y="4952643"/>
            <a:ext cx="6187918" cy="62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WORKSHOP_IC:</a:t>
            </a:r>
            <a:r>
              <a:rPr b="0"/>
              <a:t> Workshop managers linked to regional supervisors</a:t>
            </a:r>
          </a:p>
        </p:txBody>
      </p:sp>
      <p:sp>
        <p:nvSpPr>
          <p:cNvPr id="196" name="Text 6"/>
          <p:cNvSpPr txBox="1"/>
          <p:nvPr/>
        </p:nvSpPr>
        <p:spPr>
          <a:xfrm>
            <a:off x="863797" y="5676067"/>
            <a:ext cx="6187918" cy="62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MANAGES:</a:t>
            </a:r>
            <a:r>
              <a:rPr b="0"/>
              <a:t> Resolves M:N relationships between workshops and managers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863797" y="6399489"/>
            <a:ext cx="5407113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REVENUE:</a:t>
            </a:r>
            <a:r>
              <a:rPr b="0"/>
              <a:t> Quarterly financial records per workshop</a:t>
            </a:r>
          </a:p>
        </p:txBody>
      </p:sp>
      <p:sp>
        <p:nvSpPr>
          <p:cNvPr id="198" name="Text 8"/>
          <p:cNvSpPr txBox="1"/>
          <p:nvPr/>
        </p:nvSpPr>
        <p:spPr>
          <a:xfrm>
            <a:off x="7586305" y="2583775"/>
            <a:ext cx="2975931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Relationship Cardinalities</a:t>
            </a:r>
          </a:p>
        </p:txBody>
      </p:sp>
      <p:sp>
        <p:nvSpPr>
          <p:cNvPr id="199" name="Text 9"/>
          <p:cNvSpPr txBox="1"/>
          <p:nvPr/>
        </p:nvSpPr>
        <p:spPr>
          <a:xfrm>
            <a:off x="7586305" y="3106341"/>
            <a:ext cx="295978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Area Incharge → Area: </a:t>
            </a:r>
            <a:r>
              <a:rPr b="1"/>
              <a:t>1:N</a:t>
            </a:r>
          </a:p>
        </p:txBody>
      </p:sp>
      <p:sp>
        <p:nvSpPr>
          <p:cNvPr id="200" name="Text 10"/>
          <p:cNvSpPr txBox="1"/>
          <p:nvPr/>
        </p:nvSpPr>
        <p:spPr>
          <a:xfrm>
            <a:off x="7586305" y="3505794"/>
            <a:ext cx="258344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Area → Workshop: </a:t>
            </a:r>
            <a:r>
              <a:rPr b="1"/>
              <a:t>1:N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7586305" y="3905249"/>
            <a:ext cx="2991626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Workshop → Revenue: </a:t>
            </a:r>
            <a:r>
              <a:rPr b="1"/>
              <a:t>1:N</a:t>
            </a:r>
          </a:p>
        </p:txBody>
      </p:sp>
      <p:sp>
        <p:nvSpPr>
          <p:cNvPr id="202" name="Text 12"/>
          <p:cNvSpPr txBox="1"/>
          <p:nvPr/>
        </p:nvSpPr>
        <p:spPr>
          <a:xfrm>
            <a:off x="7586305" y="4304705"/>
            <a:ext cx="5620690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Workshop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Workshop_IC: </a:t>
            </a:r>
            <a:r>
              <a:rPr b="1"/>
              <a:t>M:N</a:t>
            </a:r>
            <a:r>
              <a:t> (via MANAGES table)</a:t>
            </a:r>
          </a:p>
        </p:txBody>
      </p:sp>
      <p:sp>
        <p:nvSpPr>
          <p:cNvPr id="203" name="Text 13"/>
          <p:cNvSpPr txBox="1"/>
          <p:nvPr/>
        </p:nvSpPr>
        <p:spPr>
          <a:xfrm>
            <a:off x="7586305" y="4822983"/>
            <a:ext cx="6187917" cy="495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All relationships validated using crow's-foot notation with cascading delete/update rules enforced through foreign keys.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 txBox="1"/>
          <p:nvPr/>
        </p:nvSpPr>
        <p:spPr>
          <a:xfrm>
            <a:off x="6013040" y="564593"/>
            <a:ext cx="2604320" cy="56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500"/>
              </a:lnSpc>
              <a:defRPr b="1" sz="36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ER Diagram</a:t>
            </a:r>
          </a:p>
        </p:txBody>
      </p:sp>
      <p:pic>
        <p:nvPicPr>
          <p:cNvPr id="2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1292" y="1558409"/>
            <a:ext cx="12987816" cy="6468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863798" y="1735454"/>
            <a:ext cx="10069773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Database Design &amp; Schema Implementation</a:t>
            </a:r>
          </a:p>
        </p:txBody>
      </p:sp>
      <p:sp>
        <p:nvSpPr>
          <p:cNvPr id="209" name="Text 1"/>
          <p:cNvSpPr txBox="1"/>
          <p:nvPr/>
        </p:nvSpPr>
        <p:spPr>
          <a:xfrm>
            <a:off x="2171297" y="2888694"/>
            <a:ext cx="408237" cy="732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600"/>
              </a:lnSpc>
              <a:defRPr b="1" sz="56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10" name="Text 2"/>
          <p:cNvSpPr txBox="1"/>
          <p:nvPr/>
        </p:nvSpPr>
        <p:spPr>
          <a:xfrm>
            <a:off x="1682868" y="3871197"/>
            <a:ext cx="1384977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Total Tables</a:t>
            </a:r>
          </a:p>
        </p:txBody>
      </p:sp>
      <p:sp>
        <p:nvSpPr>
          <p:cNvPr id="211" name="Text 3"/>
          <p:cNvSpPr txBox="1"/>
          <p:nvPr/>
        </p:nvSpPr>
        <p:spPr>
          <a:xfrm>
            <a:off x="863797" y="4307442"/>
            <a:ext cx="3023236" cy="938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5 entity tables plus 1 associative table for M:N relationships</a:t>
            </a:r>
          </a:p>
        </p:txBody>
      </p:sp>
      <p:sp>
        <p:nvSpPr>
          <p:cNvPr id="212" name="Text 4"/>
          <p:cNvSpPr txBox="1"/>
          <p:nvPr/>
        </p:nvSpPr>
        <p:spPr>
          <a:xfrm>
            <a:off x="5059014" y="2888694"/>
            <a:ext cx="1219102" cy="732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600"/>
              </a:lnSpc>
              <a:defRPr b="1" sz="56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20+</a:t>
            </a:r>
          </a:p>
        </p:txBody>
      </p:sp>
      <p:sp>
        <p:nvSpPr>
          <p:cNvPr id="213" name="Text 5"/>
          <p:cNvSpPr txBox="1"/>
          <p:nvPr/>
        </p:nvSpPr>
        <p:spPr>
          <a:xfrm>
            <a:off x="4991805" y="3871197"/>
            <a:ext cx="1353401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Constraints</a:t>
            </a:r>
          </a:p>
        </p:txBody>
      </p:sp>
      <p:sp>
        <p:nvSpPr>
          <p:cNvPr id="214" name="Text 6"/>
          <p:cNvSpPr txBox="1"/>
          <p:nvPr/>
        </p:nvSpPr>
        <p:spPr>
          <a:xfrm>
            <a:off x="4156947" y="4307442"/>
            <a:ext cx="3023236" cy="938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Primary keys, foreign keys, CHECK, UNIQUE, and NOT NULL constraints</a:t>
            </a:r>
          </a:p>
        </p:txBody>
      </p:sp>
      <p:sp>
        <p:nvSpPr>
          <p:cNvPr id="215" name="Text 7"/>
          <p:cNvSpPr txBox="1"/>
          <p:nvPr/>
        </p:nvSpPr>
        <p:spPr>
          <a:xfrm>
            <a:off x="8757597" y="2888694"/>
            <a:ext cx="408237" cy="732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600"/>
              </a:lnSpc>
              <a:defRPr b="1" sz="56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6" name="Text 8"/>
          <p:cNvSpPr txBox="1"/>
          <p:nvPr/>
        </p:nvSpPr>
        <p:spPr>
          <a:xfrm>
            <a:off x="8479185" y="3871197"/>
            <a:ext cx="964941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Triggers</a:t>
            </a:r>
          </a:p>
        </p:txBody>
      </p:sp>
      <p:sp>
        <p:nvSpPr>
          <p:cNvPr id="217" name="Text 9"/>
          <p:cNvSpPr txBox="1"/>
          <p:nvPr/>
        </p:nvSpPr>
        <p:spPr>
          <a:xfrm>
            <a:off x="7450097" y="4307442"/>
            <a:ext cx="3023236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Automated score calculation and profit computation</a:t>
            </a:r>
          </a:p>
        </p:txBody>
      </p:sp>
      <p:sp>
        <p:nvSpPr>
          <p:cNvPr id="218" name="Text 10"/>
          <p:cNvSpPr txBox="1"/>
          <p:nvPr/>
        </p:nvSpPr>
        <p:spPr>
          <a:xfrm>
            <a:off x="11576789" y="2888694"/>
            <a:ext cx="1356272" cy="732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600"/>
              </a:lnSpc>
              <a:defRPr b="1" sz="56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3NF</a:t>
            </a:r>
          </a:p>
        </p:txBody>
      </p:sp>
      <p:sp>
        <p:nvSpPr>
          <p:cNvPr id="219" name="Text 11"/>
          <p:cNvSpPr txBox="1"/>
          <p:nvPr/>
        </p:nvSpPr>
        <p:spPr>
          <a:xfrm>
            <a:off x="11450858" y="3871197"/>
            <a:ext cx="1608132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Normalization</a:t>
            </a:r>
          </a:p>
        </p:txBody>
      </p:sp>
      <p:sp>
        <p:nvSpPr>
          <p:cNvPr id="220" name="Text 12"/>
          <p:cNvSpPr txBox="1"/>
          <p:nvPr/>
        </p:nvSpPr>
        <p:spPr>
          <a:xfrm>
            <a:off x="10743248" y="4307442"/>
            <a:ext cx="3023355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Verified through functional dependency analysis</a:t>
            </a:r>
          </a:p>
        </p:txBody>
      </p:sp>
      <p:sp>
        <p:nvSpPr>
          <p:cNvPr id="221" name="Text 13"/>
          <p:cNvSpPr txBox="1"/>
          <p:nvPr/>
        </p:nvSpPr>
        <p:spPr>
          <a:xfrm>
            <a:off x="863797" y="5522238"/>
            <a:ext cx="12902805" cy="125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Key Design Highlights:</a:t>
            </a:r>
            <a:r>
              <a:rPr b="0"/>
              <a:t> Composite primary keys ensure unique records, foreign keys define relationships with cascading actions, CHECK constraints validate domain rules (quarters 1-4, recovery yes/no). Derived attributes like score and profit are computed automatically by triggers, ensuring consistency. Data types carefully chosen: INTEGER for IDs and metrics, VARCHAR for names and categories.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789265" y="542567"/>
            <a:ext cx="4087429" cy="54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5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Relational Mapping</a:t>
            </a:r>
          </a:p>
        </p:txBody>
      </p:sp>
      <p:pic>
        <p:nvPicPr>
          <p:cNvPr id="2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9265" y="1233495"/>
            <a:ext cx="13051870" cy="62762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863797" y="1794866"/>
            <a:ext cx="10658886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Normalization Process: From Raw Data to 3NF</a:t>
            </a:r>
          </a:p>
        </p:txBody>
      </p:sp>
      <p:sp>
        <p:nvSpPr>
          <p:cNvPr id="227" name="Shape 1"/>
          <p:cNvSpPr/>
          <p:nvPr/>
        </p:nvSpPr>
        <p:spPr>
          <a:xfrm>
            <a:off x="863797" y="3488054"/>
            <a:ext cx="4156949" cy="215861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2"/>
          <p:cNvSpPr txBox="1"/>
          <p:nvPr/>
        </p:nvSpPr>
        <p:spPr>
          <a:xfrm>
            <a:off x="1079658" y="3919775"/>
            <a:ext cx="2787887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First Normal Form (1NF)</a:t>
            </a:r>
          </a:p>
        </p:txBody>
      </p:sp>
      <p:sp>
        <p:nvSpPr>
          <p:cNvPr id="229" name="Text 3"/>
          <p:cNvSpPr txBox="1"/>
          <p:nvPr/>
        </p:nvSpPr>
        <p:spPr>
          <a:xfrm>
            <a:off x="1079658" y="4356020"/>
            <a:ext cx="3725230" cy="1256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Eliminated all repeating groups and multi-valued attributes. Names separated into fname and lname. Each cell contains atomic values only.</a:t>
            </a:r>
          </a:p>
        </p:txBody>
      </p:sp>
      <p:sp>
        <p:nvSpPr>
          <p:cNvPr id="230" name="Shape 4"/>
          <p:cNvSpPr/>
          <p:nvPr/>
        </p:nvSpPr>
        <p:spPr>
          <a:xfrm>
            <a:off x="5236607" y="3164085"/>
            <a:ext cx="4157068" cy="215861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5"/>
          <p:cNvSpPr txBox="1"/>
          <p:nvPr/>
        </p:nvSpPr>
        <p:spPr>
          <a:xfrm>
            <a:off x="5452467" y="3595806"/>
            <a:ext cx="3136522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Second Normal Form (2NF)</a:t>
            </a:r>
          </a:p>
        </p:txBody>
      </p:sp>
      <p:sp>
        <p:nvSpPr>
          <p:cNvPr id="232" name="Text 6"/>
          <p:cNvSpPr txBox="1"/>
          <p:nvPr/>
        </p:nvSpPr>
        <p:spPr>
          <a:xfrm>
            <a:off x="5452467" y="4032051"/>
            <a:ext cx="3725348" cy="157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Removed partial dependencies on composite keys. In REVENUE table, every non-key attribute depends on the entire composite primary key (wk_code, year, quarter).</a:t>
            </a:r>
          </a:p>
        </p:txBody>
      </p:sp>
      <p:sp>
        <p:nvSpPr>
          <p:cNvPr id="233" name="Shape 7"/>
          <p:cNvSpPr/>
          <p:nvPr/>
        </p:nvSpPr>
        <p:spPr>
          <a:xfrm>
            <a:off x="9609534" y="2840235"/>
            <a:ext cx="4157068" cy="215861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8"/>
          <p:cNvSpPr txBox="1"/>
          <p:nvPr/>
        </p:nvSpPr>
        <p:spPr>
          <a:xfrm>
            <a:off x="9825394" y="3271956"/>
            <a:ext cx="2868124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Third Normal Form (3NF)</a:t>
            </a:r>
          </a:p>
        </p:txBody>
      </p:sp>
      <p:sp>
        <p:nvSpPr>
          <p:cNvPr id="235" name="Text 9"/>
          <p:cNvSpPr txBox="1"/>
          <p:nvPr/>
        </p:nvSpPr>
        <p:spPr>
          <a:xfrm>
            <a:off x="9825394" y="3708201"/>
            <a:ext cx="3725348" cy="189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Eliminated transitive dependencies between non-key attributes. Removed area supervisor names from WORKSHOP; now linked through AREA → AREA_INCHARGE relationships.</a:t>
            </a:r>
          </a:p>
        </p:txBody>
      </p:sp>
      <p:sp>
        <p:nvSpPr>
          <p:cNvPr id="236" name="Text 10"/>
          <p:cNvSpPr txBox="1"/>
          <p:nvPr/>
        </p:nvSpPr>
        <p:spPr>
          <a:xfrm>
            <a:off x="863797" y="6110644"/>
            <a:ext cx="112528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Result:</a:t>
            </a:r>
            <a:r>
              <a:rPr b="0"/>
              <a:t> ✓ Zero redundancy ✓ Improved consistency ✓ No update or insertion anomalies ✓ Optimal storage efficiency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 txBox="1"/>
          <p:nvPr/>
        </p:nvSpPr>
        <p:spPr>
          <a:xfrm>
            <a:off x="863797" y="1040248"/>
            <a:ext cx="8665804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Sample Table Structure &amp; Constraints</a:t>
            </a:r>
          </a:p>
        </p:txBody>
      </p:sp>
      <p:sp>
        <p:nvSpPr>
          <p:cNvPr id="239" name="Text 1"/>
          <p:cNvSpPr txBox="1"/>
          <p:nvPr/>
        </p:nvSpPr>
        <p:spPr>
          <a:xfrm>
            <a:off x="863797" y="2193488"/>
            <a:ext cx="2135741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WORKSHOP Table</a:t>
            </a:r>
          </a:p>
        </p:txBody>
      </p:sp>
      <p:sp>
        <p:nvSpPr>
          <p:cNvPr id="240" name="Shape 2"/>
          <p:cNvSpPr/>
          <p:nvPr/>
        </p:nvSpPr>
        <p:spPr>
          <a:xfrm>
            <a:off x="863797" y="2743081"/>
            <a:ext cx="6187918" cy="4203263"/>
          </a:xfrm>
          <a:prstGeom prst="roundRect">
            <a:avLst>
              <a:gd name="adj" fmla="val 771"/>
            </a:avLst>
          </a:prstGeom>
          <a:ln w="7620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3"/>
          <p:cNvSpPr/>
          <p:nvPr/>
        </p:nvSpPr>
        <p:spPr>
          <a:xfrm>
            <a:off x="871418" y="2750701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4"/>
          <p:cNvSpPr txBox="1"/>
          <p:nvPr/>
        </p:nvSpPr>
        <p:spPr>
          <a:xfrm>
            <a:off x="1087516" y="2887860"/>
            <a:ext cx="816212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Column</a:t>
            </a:r>
          </a:p>
        </p:txBody>
      </p:sp>
      <p:sp>
        <p:nvSpPr>
          <p:cNvPr id="243" name="Text 5"/>
          <p:cNvSpPr txBox="1"/>
          <p:nvPr/>
        </p:nvSpPr>
        <p:spPr>
          <a:xfrm>
            <a:off x="3149202" y="2887860"/>
            <a:ext cx="5006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44" name="Text 6"/>
          <p:cNvSpPr txBox="1"/>
          <p:nvPr/>
        </p:nvSpPr>
        <p:spPr>
          <a:xfrm>
            <a:off x="5206484" y="2887860"/>
            <a:ext cx="109220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Constraint</a:t>
            </a:r>
          </a:p>
        </p:txBody>
      </p:sp>
      <p:sp>
        <p:nvSpPr>
          <p:cNvPr id="245" name="Shape 7"/>
          <p:cNvSpPr/>
          <p:nvPr/>
        </p:nvSpPr>
        <p:spPr>
          <a:xfrm>
            <a:off x="871418" y="3348990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8"/>
          <p:cNvSpPr txBox="1"/>
          <p:nvPr/>
        </p:nvSpPr>
        <p:spPr>
          <a:xfrm>
            <a:off x="1087516" y="3486149"/>
            <a:ext cx="86481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wk_code</a:t>
            </a:r>
          </a:p>
        </p:txBody>
      </p:sp>
      <p:sp>
        <p:nvSpPr>
          <p:cNvPr id="247" name="Text 9"/>
          <p:cNvSpPr txBox="1"/>
          <p:nvPr/>
        </p:nvSpPr>
        <p:spPr>
          <a:xfrm>
            <a:off x="3149202" y="3486149"/>
            <a:ext cx="97233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48" name="Text 10"/>
          <p:cNvSpPr txBox="1"/>
          <p:nvPr/>
        </p:nvSpPr>
        <p:spPr>
          <a:xfrm>
            <a:off x="5206484" y="3486149"/>
            <a:ext cx="1480778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PRIMARY KEY</a:t>
            </a:r>
          </a:p>
        </p:txBody>
      </p:sp>
      <p:sp>
        <p:nvSpPr>
          <p:cNvPr id="249" name="Shape 11"/>
          <p:cNvSpPr/>
          <p:nvPr/>
        </p:nvSpPr>
        <p:spPr>
          <a:xfrm>
            <a:off x="871418" y="3947278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12"/>
          <p:cNvSpPr txBox="1"/>
          <p:nvPr/>
        </p:nvSpPr>
        <p:spPr>
          <a:xfrm>
            <a:off x="1087516" y="4084439"/>
            <a:ext cx="93670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wk_name</a:t>
            </a:r>
          </a:p>
        </p:txBody>
      </p:sp>
      <p:sp>
        <p:nvSpPr>
          <p:cNvPr id="251" name="Text 13"/>
          <p:cNvSpPr txBox="1"/>
          <p:nvPr/>
        </p:nvSpPr>
        <p:spPr>
          <a:xfrm>
            <a:off x="3149202" y="4084439"/>
            <a:ext cx="143639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VARCHAR(45)</a:t>
            </a:r>
          </a:p>
        </p:txBody>
      </p:sp>
      <p:sp>
        <p:nvSpPr>
          <p:cNvPr id="252" name="Text 14"/>
          <p:cNvSpPr txBox="1"/>
          <p:nvPr/>
        </p:nvSpPr>
        <p:spPr>
          <a:xfrm>
            <a:off x="5206484" y="4084439"/>
            <a:ext cx="1076598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NOT NULL</a:t>
            </a:r>
          </a:p>
        </p:txBody>
      </p:sp>
      <p:sp>
        <p:nvSpPr>
          <p:cNvPr id="253" name="Shape 15"/>
          <p:cNvSpPr/>
          <p:nvPr/>
        </p:nvSpPr>
        <p:spPr>
          <a:xfrm>
            <a:off x="871418" y="4545567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6"/>
          <p:cNvSpPr txBox="1"/>
          <p:nvPr/>
        </p:nvSpPr>
        <p:spPr>
          <a:xfrm>
            <a:off x="1087516" y="4682728"/>
            <a:ext cx="444818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area</a:t>
            </a:r>
          </a:p>
        </p:txBody>
      </p:sp>
      <p:sp>
        <p:nvSpPr>
          <p:cNvPr id="255" name="Text 17"/>
          <p:cNvSpPr txBox="1"/>
          <p:nvPr/>
        </p:nvSpPr>
        <p:spPr>
          <a:xfrm>
            <a:off x="3149202" y="4682728"/>
            <a:ext cx="143639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VARCHAR(20)</a:t>
            </a:r>
          </a:p>
        </p:txBody>
      </p:sp>
      <p:sp>
        <p:nvSpPr>
          <p:cNvPr id="256" name="Text 18"/>
          <p:cNvSpPr txBox="1"/>
          <p:nvPr/>
        </p:nvSpPr>
        <p:spPr>
          <a:xfrm>
            <a:off x="5206484" y="4682728"/>
            <a:ext cx="1200572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FK → AREA</a:t>
            </a:r>
          </a:p>
        </p:txBody>
      </p:sp>
      <p:sp>
        <p:nvSpPr>
          <p:cNvPr id="257" name="Shape 19"/>
          <p:cNvSpPr/>
          <p:nvPr/>
        </p:nvSpPr>
        <p:spPr>
          <a:xfrm>
            <a:off x="871418" y="5143856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0"/>
          <p:cNvSpPr txBox="1"/>
          <p:nvPr/>
        </p:nvSpPr>
        <p:spPr>
          <a:xfrm>
            <a:off x="1087516" y="5281017"/>
            <a:ext cx="102072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manpower</a:t>
            </a:r>
          </a:p>
        </p:txBody>
      </p:sp>
      <p:sp>
        <p:nvSpPr>
          <p:cNvPr id="259" name="Text 21"/>
          <p:cNvSpPr txBox="1"/>
          <p:nvPr/>
        </p:nvSpPr>
        <p:spPr>
          <a:xfrm>
            <a:off x="3149202" y="5281017"/>
            <a:ext cx="97233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60" name="Text 22"/>
          <p:cNvSpPr txBox="1"/>
          <p:nvPr/>
        </p:nvSpPr>
        <p:spPr>
          <a:xfrm>
            <a:off x="5206484" y="5281017"/>
            <a:ext cx="112698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CHECK ≥ 0</a:t>
            </a:r>
          </a:p>
        </p:txBody>
      </p:sp>
      <p:sp>
        <p:nvSpPr>
          <p:cNvPr id="261" name="Shape 23"/>
          <p:cNvSpPr/>
          <p:nvPr/>
        </p:nvSpPr>
        <p:spPr>
          <a:xfrm>
            <a:off x="871418" y="5742146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24"/>
          <p:cNvSpPr txBox="1"/>
          <p:nvPr/>
        </p:nvSpPr>
        <p:spPr>
          <a:xfrm>
            <a:off x="1087516" y="5879305"/>
            <a:ext cx="84056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recovery</a:t>
            </a:r>
          </a:p>
        </p:txBody>
      </p:sp>
      <p:sp>
        <p:nvSpPr>
          <p:cNvPr id="263" name="Text 25"/>
          <p:cNvSpPr txBox="1"/>
          <p:nvPr/>
        </p:nvSpPr>
        <p:spPr>
          <a:xfrm>
            <a:off x="3149202" y="5879305"/>
            <a:ext cx="143639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VARCHAR(10)</a:t>
            </a:r>
          </a:p>
        </p:txBody>
      </p:sp>
      <p:sp>
        <p:nvSpPr>
          <p:cNvPr id="264" name="Text 26"/>
          <p:cNvSpPr txBox="1"/>
          <p:nvPr/>
        </p:nvSpPr>
        <p:spPr>
          <a:xfrm>
            <a:off x="5206484" y="5879305"/>
            <a:ext cx="160833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CHECK (yes/no)</a:t>
            </a:r>
          </a:p>
        </p:txBody>
      </p:sp>
      <p:sp>
        <p:nvSpPr>
          <p:cNvPr id="265" name="Shape 27"/>
          <p:cNvSpPr/>
          <p:nvPr/>
        </p:nvSpPr>
        <p:spPr>
          <a:xfrm>
            <a:off x="871418" y="6340435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28"/>
          <p:cNvSpPr txBox="1"/>
          <p:nvPr/>
        </p:nvSpPr>
        <p:spPr>
          <a:xfrm>
            <a:off x="1087516" y="6477594"/>
            <a:ext cx="54064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score</a:t>
            </a:r>
          </a:p>
        </p:txBody>
      </p:sp>
      <p:sp>
        <p:nvSpPr>
          <p:cNvPr id="267" name="Text 29"/>
          <p:cNvSpPr txBox="1"/>
          <p:nvPr/>
        </p:nvSpPr>
        <p:spPr>
          <a:xfrm>
            <a:off x="3149202" y="6477594"/>
            <a:ext cx="97233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68" name="Text 30"/>
          <p:cNvSpPr txBox="1"/>
          <p:nvPr/>
        </p:nvSpPr>
        <p:spPr>
          <a:xfrm>
            <a:off x="5206484" y="6477594"/>
            <a:ext cx="150091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Auto-calculated</a:t>
            </a:r>
          </a:p>
        </p:txBody>
      </p:sp>
      <p:sp>
        <p:nvSpPr>
          <p:cNvPr id="269" name="Text 31"/>
          <p:cNvSpPr txBox="1"/>
          <p:nvPr/>
        </p:nvSpPr>
        <p:spPr>
          <a:xfrm>
            <a:off x="7586305" y="2193488"/>
            <a:ext cx="1858740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REVENUE Table</a:t>
            </a:r>
          </a:p>
        </p:txBody>
      </p:sp>
      <p:sp>
        <p:nvSpPr>
          <p:cNvPr id="270" name="Shape 32"/>
          <p:cNvSpPr/>
          <p:nvPr/>
        </p:nvSpPr>
        <p:spPr>
          <a:xfrm>
            <a:off x="7586305" y="2743081"/>
            <a:ext cx="6187917" cy="4203263"/>
          </a:xfrm>
          <a:prstGeom prst="roundRect">
            <a:avLst>
              <a:gd name="adj" fmla="val 771"/>
            </a:avLst>
          </a:prstGeom>
          <a:ln w="7620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33"/>
          <p:cNvSpPr/>
          <p:nvPr/>
        </p:nvSpPr>
        <p:spPr>
          <a:xfrm>
            <a:off x="7593924" y="2750701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34"/>
          <p:cNvSpPr txBox="1"/>
          <p:nvPr/>
        </p:nvSpPr>
        <p:spPr>
          <a:xfrm>
            <a:off x="7810024" y="2887860"/>
            <a:ext cx="81621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Column</a:t>
            </a:r>
          </a:p>
        </p:txBody>
      </p:sp>
      <p:sp>
        <p:nvSpPr>
          <p:cNvPr id="273" name="Text 35"/>
          <p:cNvSpPr txBox="1"/>
          <p:nvPr/>
        </p:nvSpPr>
        <p:spPr>
          <a:xfrm>
            <a:off x="9871709" y="2887860"/>
            <a:ext cx="5006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74" name="Text 36"/>
          <p:cNvSpPr txBox="1"/>
          <p:nvPr/>
        </p:nvSpPr>
        <p:spPr>
          <a:xfrm>
            <a:off x="11928991" y="2887860"/>
            <a:ext cx="109220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Constraint</a:t>
            </a:r>
          </a:p>
        </p:txBody>
      </p:sp>
      <p:sp>
        <p:nvSpPr>
          <p:cNvPr id="275" name="Shape 37"/>
          <p:cNvSpPr/>
          <p:nvPr/>
        </p:nvSpPr>
        <p:spPr>
          <a:xfrm>
            <a:off x="7593924" y="3348990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38"/>
          <p:cNvSpPr txBox="1"/>
          <p:nvPr/>
        </p:nvSpPr>
        <p:spPr>
          <a:xfrm>
            <a:off x="7810024" y="3486149"/>
            <a:ext cx="86481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wk_code</a:t>
            </a:r>
          </a:p>
        </p:txBody>
      </p:sp>
      <p:sp>
        <p:nvSpPr>
          <p:cNvPr id="277" name="Text 39"/>
          <p:cNvSpPr txBox="1"/>
          <p:nvPr/>
        </p:nvSpPr>
        <p:spPr>
          <a:xfrm>
            <a:off x="9871709" y="3486149"/>
            <a:ext cx="97233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78" name="Text 40"/>
          <p:cNvSpPr txBox="1"/>
          <p:nvPr/>
        </p:nvSpPr>
        <p:spPr>
          <a:xfrm>
            <a:off x="11928991" y="3486149"/>
            <a:ext cx="139233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FK CASCADE</a:t>
            </a:r>
          </a:p>
        </p:txBody>
      </p:sp>
      <p:sp>
        <p:nvSpPr>
          <p:cNvPr id="279" name="Shape 41"/>
          <p:cNvSpPr/>
          <p:nvPr/>
        </p:nvSpPr>
        <p:spPr>
          <a:xfrm>
            <a:off x="7593924" y="3947278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42"/>
          <p:cNvSpPr txBox="1"/>
          <p:nvPr/>
        </p:nvSpPr>
        <p:spPr>
          <a:xfrm>
            <a:off x="7810024" y="4084439"/>
            <a:ext cx="432694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year</a:t>
            </a:r>
          </a:p>
        </p:txBody>
      </p:sp>
      <p:sp>
        <p:nvSpPr>
          <p:cNvPr id="281" name="Text 43"/>
          <p:cNvSpPr txBox="1"/>
          <p:nvPr/>
        </p:nvSpPr>
        <p:spPr>
          <a:xfrm>
            <a:off x="9871709" y="4084439"/>
            <a:ext cx="97233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82" name="Text 44"/>
          <p:cNvSpPr txBox="1"/>
          <p:nvPr/>
        </p:nvSpPr>
        <p:spPr>
          <a:xfrm>
            <a:off x="11928991" y="4084439"/>
            <a:ext cx="148720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CHECK ≥ 2000</a:t>
            </a:r>
          </a:p>
        </p:txBody>
      </p:sp>
      <p:sp>
        <p:nvSpPr>
          <p:cNvPr id="283" name="Shape 45"/>
          <p:cNvSpPr/>
          <p:nvPr/>
        </p:nvSpPr>
        <p:spPr>
          <a:xfrm>
            <a:off x="7593924" y="4545567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46"/>
          <p:cNvSpPr txBox="1"/>
          <p:nvPr/>
        </p:nvSpPr>
        <p:spPr>
          <a:xfrm>
            <a:off x="7810024" y="4682728"/>
            <a:ext cx="696770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quarter</a:t>
            </a:r>
          </a:p>
        </p:txBody>
      </p:sp>
      <p:sp>
        <p:nvSpPr>
          <p:cNvPr id="285" name="Text 47"/>
          <p:cNvSpPr txBox="1"/>
          <p:nvPr/>
        </p:nvSpPr>
        <p:spPr>
          <a:xfrm>
            <a:off x="9871709" y="4682728"/>
            <a:ext cx="97233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86" name="Text 48"/>
          <p:cNvSpPr txBox="1"/>
          <p:nvPr/>
        </p:nvSpPr>
        <p:spPr>
          <a:xfrm>
            <a:off x="11928991" y="4682728"/>
            <a:ext cx="1140483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CHECK 1-4</a:t>
            </a:r>
          </a:p>
        </p:txBody>
      </p:sp>
      <p:sp>
        <p:nvSpPr>
          <p:cNvPr id="287" name="Shape 49"/>
          <p:cNvSpPr/>
          <p:nvPr/>
        </p:nvSpPr>
        <p:spPr>
          <a:xfrm>
            <a:off x="7593924" y="5143856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50"/>
          <p:cNvSpPr txBox="1"/>
          <p:nvPr/>
        </p:nvSpPr>
        <p:spPr>
          <a:xfrm>
            <a:off x="7810024" y="5281017"/>
            <a:ext cx="104486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total_sales</a:t>
            </a:r>
          </a:p>
        </p:txBody>
      </p:sp>
      <p:sp>
        <p:nvSpPr>
          <p:cNvPr id="289" name="Text 51"/>
          <p:cNvSpPr txBox="1"/>
          <p:nvPr/>
        </p:nvSpPr>
        <p:spPr>
          <a:xfrm>
            <a:off x="9871709" y="5281017"/>
            <a:ext cx="97233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90" name="Text 52"/>
          <p:cNvSpPr txBox="1"/>
          <p:nvPr/>
        </p:nvSpPr>
        <p:spPr>
          <a:xfrm>
            <a:off x="11928991" y="5281017"/>
            <a:ext cx="1076599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NOT NULL</a:t>
            </a:r>
          </a:p>
        </p:txBody>
      </p:sp>
      <p:sp>
        <p:nvSpPr>
          <p:cNvPr id="291" name="Shape 53"/>
          <p:cNvSpPr/>
          <p:nvPr/>
        </p:nvSpPr>
        <p:spPr>
          <a:xfrm>
            <a:off x="7593924" y="5742146"/>
            <a:ext cx="6172677" cy="59829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54"/>
          <p:cNvSpPr txBox="1"/>
          <p:nvPr/>
        </p:nvSpPr>
        <p:spPr>
          <a:xfrm>
            <a:off x="7810024" y="5879305"/>
            <a:ext cx="12125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service_cost</a:t>
            </a:r>
          </a:p>
        </p:txBody>
      </p:sp>
      <p:sp>
        <p:nvSpPr>
          <p:cNvPr id="293" name="Text 55"/>
          <p:cNvSpPr txBox="1"/>
          <p:nvPr/>
        </p:nvSpPr>
        <p:spPr>
          <a:xfrm>
            <a:off x="9871709" y="5879305"/>
            <a:ext cx="97233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94" name="Text 56"/>
          <p:cNvSpPr txBox="1"/>
          <p:nvPr/>
        </p:nvSpPr>
        <p:spPr>
          <a:xfrm>
            <a:off x="11928991" y="5879305"/>
            <a:ext cx="107659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NOT NULL</a:t>
            </a:r>
          </a:p>
        </p:txBody>
      </p:sp>
      <p:sp>
        <p:nvSpPr>
          <p:cNvPr id="295" name="Shape 57"/>
          <p:cNvSpPr/>
          <p:nvPr/>
        </p:nvSpPr>
        <p:spPr>
          <a:xfrm>
            <a:off x="7593924" y="6340435"/>
            <a:ext cx="6172677" cy="59829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58"/>
          <p:cNvSpPr txBox="1"/>
          <p:nvPr/>
        </p:nvSpPr>
        <p:spPr>
          <a:xfrm>
            <a:off x="7810024" y="6477594"/>
            <a:ext cx="49267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profit</a:t>
            </a:r>
          </a:p>
        </p:txBody>
      </p:sp>
      <p:sp>
        <p:nvSpPr>
          <p:cNvPr id="297" name="Text 59"/>
          <p:cNvSpPr txBox="1"/>
          <p:nvPr/>
        </p:nvSpPr>
        <p:spPr>
          <a:xfrm>
            <a:off x="9871709" y="6477594"/>
            <a:ext cx="972339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INTEGER</a:t>
            </a:r>
          </a:p>
        </p:txBody>
      </p:sp>
      <p:sp>
        <p:nvSpPr>
          <p:cNvPr id="298" name="Text 60"/>
          <p:cNvSpPr txBox="1"/>
          <p:nvPr/>
        </p:nvSpPr>
        <p:spPr>
          <a:xfrm>
            <a:off x="11928991" y="6477594"/>
            <a:ext cx="150091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Auto-calculated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 txBox="1"/>
          <p:nvPr/>
        </p:nvSpPr>
        <p:spPr>
          <a:xfrm>
            <a:off x="863797" y="1208841"/>
            <a:ext cx="12902805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Trigger 1: Automated Workshop Performance Scoring</a:t>
            </a:r>
          </a:p>
        </p:txBody>
      </p:sp>
      <p:sp>
        <p:nvSpPr>
          <p:cNvPr id="301" name="Text 1"/>
          <p:cNvSpPr txBox="1"/>
          <p:nvPr/>
        </p:nvSpPr>
        <p:spPr>
          <a:xfrm>
            <a:off x="863797" y="2867738"/>
            <a:ext cx="12902805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Purpose:</a:t>
            </a:r>
            <a:r>
              <a:rPr b="0"/>
              <a:t> Automatically compute workshop performance score on every insert or update operation, eliminating manual calculation errors and ensuring real-time consistency.</a:t>
            </a:r>
          </a:p>
        </p:txBody>
      </p:sp>
      <p:sp>
        <p:nvSpPr>
          <p:cNvPr id="302" name="Text 2"/>
          <p:cNvSpPr txBox="1"/>
          <p:nvPr/>
        </p:nvSpPr>
        <p:spPr>
          <a:xfrm>
            <a:off x="1187647" y="4001453"/>
            <a:ext cx="12578955" cy="94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CREATE OR REPLACE FUNCTION calculate_workshop_score() RETURNS TRIGGER AS $$ BEGIN NEW.score := FLOOR((NEW.manpower::numeric/100*4) + (NEW.customer_visits::numeric/1000*4) + (CASE WHEN NEW.recovery='yes' THEN 2 ELSE 0 END)); RETURN NEW; END; $$ LANGUAGE plpgsql;</a:t>
            </a:r>
          </a:p>
        </p:txBody>
      </p:sp>
      <p:sp>
        <p:nvSpPr>
          <p:cNvPr id="303" name="Shape 3"/>
          <p:cNvSpPr/>
          <p:nvPr/>
        </p:nvSpPr>
        <p:spPr>
          <a:xfrm>
            <a:off x="863797" y="3758565"/>
            <a:ext cx="30481" cy="1503403"/>
          </a:xfrm>
          <a:prstGeom prst="rect">
            <a:avLst/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hape 4"/>
          <p:cNvSpPr/>
          <p:nvPr/>
        </p:nvSpPr>
        <p:spPr>
          <a:xfrm>
            <a:off x="863797" y="5504855"/>
            <a:ext cx="4156949" cy="1515905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5"/>
          <p:cNvSpPr txBox="1"/>
          <p:nvPr/>
        </p:nvSpPr>
        <p:spPr>
          <a:xfrm>
            <a:off x="1079658" y="5720715"/>
            <a:ext cx="1957004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Execution Speed</a:t>
            </a:r>
          </a:p>
        </p:txBody>
      </p:sp>
      <p:sp>
        <p:nvSpPr>
          <p:cNvPr id="306" name="Text 6"/>
          <p:cNvSpPr txBox="1"/>
          <p:nvPr/>
        </p:nvSpPr>
        <p:spPr>
          <a:xfrm>
            <a:off x="1079658" y="6156959"/>
            <a:ext cx="3725230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Less than 5 milliseconds per trigger invocation</a:t>
            </a:r>
          </a:p>
        </p:txBody>
      </p:sp>
      <p:sp>
        <p:nvSpPr>
          <p:cNvPr id="307" name="Shape 7"/>
          <p:cNvSpPr/>
          <p:nvPr/>
        </p:nvSpPr>
        <p:spPr>
          <a:xfrm>
            <a:off x="5236607" y="5504855"/>
            <a:ext cx="4157068" cy="1515905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8"/>
          <p:cNvSpPr txBox="1"/>
          <p:nvPr/>
        </p:nvSpPr>
        <p:spPr>
          <a:xfrm>
            <a:off x="5452467" y="5720715"/>
            <a:ext cx="1863335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Maximum Score</a:t>
            </a:r>
          </a:p>
        </p:txBody>
      </p:sp>
      <p:sp>
        <p:nvSpPr>
          <p:cNvPr id="309" name="Text 9"/>
          <p:cNvSpPr txBox="1"/>
          <p:nvPr/>
        </p:nvSpPr>
        <p:spPr>
          <a:xfrm>
            <a:off x="5452467" y="6156959"/>
            <a:ext cx="3725348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10 points combining manpower, visits, and recovery metrics</a:t>
            </a:r>
          </a:p>
        </p:txBody>
      </p:sp>
      <p:sp>
        <p:nvSpPr>
          <p:cNvPr id="310" name="Shape 10"/>
          <p:cNvSpPr/>
          <p:nvPr/>
        </p:nvSpPr>
        <p:spPr>
          <a:xfrm>
            <a:off x="9609534" y="5504855"/>
            <a:ext cx="4157068" cy="1515905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11"/>
          <p:cNvSpPr txBox="1"/>
          <p:nvPr/>
        </p:nvSpPr>
        <p:spPr>
          <a:xfrm>
            <a:off x="9825394" y="5720715"/>
            <a:ext cx="790446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312" name="Text 12"/>
          <p:cNvSpPr txBox="1"/>
          <p:nvPr/>
        </p:nvSpPr>
        <p:spPr>
          <a:xfrm>
            <a:off x="9825394" y="6156959"/>
            <a:ext cx="3725348" cy="938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Consistent scoring across all 1000+ test records with zero calculation errors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 txBox="1"/>
          <p:nvPr/>
        </p:nvSpPr>
        <p:spPr>
          <a:xfrm>
            <a:off x="863797" y="1168717"/>
            <a:ext cx="10919037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Trigger 2: Real-Time Revenue Profit Calculation</a:t>
            </a:r>
          </a:p>
        </p:txBody>
      </p:sp>
      <p:sp>
        <p:nvSpPr>
          <p:cNvPr id="315" name="Text 1"/>
          <p:cNvSpPr txBox="1"/>
          <p:nvPr/>
        </p:nvSpPr>
        <p:spPr>
          <a:xfrm>
            <a:off x="863797" y="2214085"/>
            <a:ext cx="12902805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Purpose:</a:t>
            </a:r>
            <a:r>
              <a:rPr b="0"/>
              <a:t> Compute quarterly profit automatically as the difference between total sales and service costs, maintaining accurate financial records without manual intervention.</a:t>
            </a:r>
          </a:p>
        </p:txBody>
      </p:sp>
      <p:sp>
        <p:nvSpPr>
          <p:cNvPr id="316" name="Text 2"/>
          <p:cNvSpPr txBox="1"/>
          <p:nvPr/>
        </p:nvSpPr>
        <p:spPr>
          <a:xfrm>
            <a:off x="1187647" y="3347799"/>
            <a:ext cx="12578955" cy="624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CREATE OR REPLACE FUNCTION calculate_revenue_profit() RETURNS TRIGGER AS $$ BEGIN NEW.profit := NEW.total_sales - NEW.service_cost; RETURN NEW; END; $$ LANGUAGE plpgsql;</a:t>
            </a:r>
          </a:p>
        </p:txBody>
      </p:sp>
      <p:sp>
        <p:nvSpPr>
          <p:cNvPr id="317" name="Shape 3"/>
          <p:cNvSpPr/>
          <p:nvPr/>
        </p:nvSpPr>
        <p:spPr>
          <a:xfrm>
            <a:off x="863797" y="3104912"/>
            <a:ext cx="30481" cy="1164194"/>
          </a:xfrm>
          <a:prstGeom prst="rect">
            <a:avLst/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4"/>
          <p:cNvSpPr/>
          <p:nvPr/>
        </p:nvSpPr>
        <p:spPr>
          <a:xfrm>
            <a:off x="863797" y="4511992"/>
            <a:ext cx="4156949" cy="2548772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3048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5"/>
          <p:cNvSpPr txBox="1"/>
          <p:nvPr/>
        </p:nvSpPr>
        <p:spPr>
          <a:xfrm>
            <a:off x="1110139" y="4758332"/>
            <a:ext cx="2909243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Eliminates Manual Errors</a:t>
            </a:r>
          </a:p>
        </p:txBody>
      </p:sp>
      <p:sp>
        <p:nvSpPr>
          <p:cNvPr id="320" name="Text 6"/>
          <p:cNvSpPr txBox="1"/>
          <p:nvPr/>
        </p:nvSpPr>
        <p:spPr>
          <a:xfrm>
            <a:off x="1110139" y="5194577"/>
            <a:ext cx="3664268" cy="157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Financial data automatically recalculated whenever sales or costs change, removing transcription and arithmetic mistakes that plagued Excel systems.</a:t>
            </a:r>
          </a:p>
        </p:txBody>
      </p:sp>
      <p:sp>
        <p:nvSpPr>
          <p:cNvPr id="321" name="Shape 7"/>
          <p:cNvSpPr/>
          <p:nvPr/>
        </p:nvSpPr>
        <p:spPr>
          <a:xfrm>
            <a:off x="5236607" y="4511992"/>
            <a:ext cx="4157068" cy="2548772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3048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8"/>
          <p:cNvSpPr txBox="1"/>
          <p:nvPr/>
        </p:nvSpPr>
        <p:spPr>
          <a:xfrm>
            <a:off x="5482947" y="4758332"/>
            <a:ext cx="3324802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Maintains Historical Records</a:t>
            </a:r>
          </a:p>
        </p:txBody>
      </p:sp>
      <p:sp>
        <p:nvSpPr>
          <p:cNvPr id="323" name="Text 9"/>
          <p:cNvSpPr txBox="1"/>
          <p:nvPr/>
        </p:nvSpPr>
        <p:spPr>
          <a:xfrm>
            <a:off x="5482947" y="5194577"/>
            <a:ext cx="3664388" cy="1256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All quarterly profit data preserved with audit trails, enabling trend analysis and accurate reporting across multiple years and quarters.</a:t>
            </a:r>
          </a:p>
        </p:txBody>
      </p:sp>
      <p:sp>
        <p:nvSpPr>
          <p:cNvPr id="324" name="Shape 10"/>
          <p:cNvSpPr/>
          <p:nvPr/>
        </p:nvSpPr>
        <p:spPr>
          <a:xfrm>
            <a:off x="9609534" y="4511992"/>
            <a:ext cx="4157068" cy="2548772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3048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11"/>
          <p:cNvSpPr txBox="1"/>
          <p:nvPr/>
        </p:nvSpPr>
        <p:spPr>
          <a:xfrm>
            <a:off x="9855875" y="4758332"/>
            <a:ext cx="3664388" cy="60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Real-Time Business Intelligence</a:t>
            </a:r>
          </a:p>
        </p:txBody>
      </p:sp>
      <p:sp>
        <p:nvSpPr>
          <p:cNvPr id="326" name="Text 12"/>
          <p:cNvSpPr txBox="1"/>
          <p:nvPr/>
        </p:nvSpPr>
        <p:spPr>
          <a:xfrm>
            <a:off x="9855875" y="5501282"/>
            <a:ext cx="3664388" cy="1256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Workshop profitability instantly available for decision-making without waiting for manual compilation or report generation.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 txBox="1"/>
          <p:nvPr/>
        </p:nvSpPr>
        <p:spPr>
          <a:xfrm>
            <a:off x="863798" y="878680"/>
            <a:ext cx="11036387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Complex SQL Queries: Advanced Data Retrieval</a:t>
            </a:r>
          </a:p>
        </p:txBody>
      </p:sp>
      <p:sp>
        <p:nvSpPr>
          <p:cNvPr id="329" name="Text 1"/>
          <p:cNvSpPr txBox="1"/>
          <p:nvPr/>
        </p:nvSpPr>
        <p:spPr>
          <a:xfrm>
            <a:off x="863797" y="1924049"/>
            <a:ext cx="12902805" cy="62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The system implements sophisticated multi-table queries combining JOINs, aggregation functions, subqueries, and filtering to extract meaningful business insights from normalized data.</a:t>
            </a:r>
          </a:p>
        </p:txBody>
      </p:sp>
      <p:sp>
        <p:nvSpPr>
          <p:cNvPr id="330" name="Shape 2"/>
          <p:cNvSpPr/>
          <p:nvPr/>
        </p:nvSpPr>
        <p:spPr>
          <a:xfrm>
            <a:off x="863797" y="3138726"/>
            <a:ext cx="4156949" cy="4212074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Shape 3"/>
          <p:cNvSpPr/>
          <p:nvPr/>
        </p:nvSpPr>
        <p:spPr>
          <a:xfrm>
            <a:off x="863797" y="3108245"/>
            <a:ext cx="4156949" cy="121921"/>
          </a:xfrm>
          <a:prstGeom prst="roundRect">
            <a:avLst>
              <a:gd name="adj" fmla="val 26572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Shape 4"/>
          <p:cNvSpPr/>
          <p:nvPr/>
        </p:nvSpPr>
        <p:spPr>
          <a:xfrm>
            <a:off x="2618363" y="2814876"/>
            <a:ext cx="647820" cy="647820"/>
          </a:xfrm>
          <a:prstGeom prst="roundRect">
            <a:avLst>
              <a:gd name="adj" fmla="val 50000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5"/>
          <p:cNvSpPr txBox="1"/>
          <p:nvPr/>
        </p:nvSpPr>
        <p:spPr>
          <a:xfrm>
            <a:off x="2812673" y="2976801"/>
            <a:ext cx="153963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4" name="Text 6"/>
          <p:cNvSpPr txBox="1"/>
          <p:nvPr/>
        </p:nvSpPr>
        <p:spPr>
          <a:xfrm>
            <a:off x="1110139" y="3678554"/>
            <a:ext cx="2662995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Multi-Table JOIN Query</a:t>
            </a:r>
          </a:p>
        </p:txBody>
      </p:sp>
      <p:sp>
        <p:nvSpPr>
          <p:cNvPr id="335" name="Text 7"/>
          <p:cNvSpPr txBox="1"/>
          <p:nvPr/>
        </p:nvSpPr>
        <p:spPr>
          <a:xfrm>
            <a:off x="1110139" y="4114799"/>
            <a:ext cx="3664268" cy="2529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SELECT w.wk_code, w.wk_name, w.score, a.area_name, aic.fname || ' ' || aic.lname AS supervisor FROM workshop w JOIN area a ON w.area=a.area_name JOIN area_incharge aic ON a.ic=aic.id;</a:t>
            </a:r>
          </a:p>
        </p:txBody>
      </p:sp>
      <p:sp>
        <p:nvSpPr>
          <p:cNvPr id="336" name="Text 8"/>
          <p:cNvSpPr txBox="1"/>
          <p:nvPr/>
        </p:nvSpPr>
        <p:spPr>
          <a:xfrm>
            <a:off x="1110139" y="6279593"/>
            <a:ext cx="3664268" cy="495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Retrieves workshop details with supervisory chain across three normalized tables.</a:t>
            </a:r>
          </a:p>
        </p:txBody>
      </p:sp>
      <p:sp>
        <p:nvSpPr>
          <p:cNvPr id="337" name="Shape 9"/>
          <p:cNvSpPr/>
          <p:nvPr/>
        </p:nvSpPr>
        <p:spPr>
          <a:xfrm>
            <a:off x="5236607" y="3138726"/>
            <a:ext cx="4157068" cy="4212074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10"/>
          <p:cNvSpPr/>
          <p:nvPr/>
        </p:nvSpPr>
        <p:spPr>
          <a:xfrm>
            <a:off x="5236607" y="3108245"/>
            <a:ext cx="4157068" cy="121921"/>
          </a:xfrm>
          <a:prstGeom prst="roundRect">
            <a:avLst>
              <a:gd name="adj" fmla="val 26572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11"/>
          <p:cNvSpPr/>
          <p:nvPr/>
        </p:nvSpPr>
        <p:spPr>
          <a:xfrm>
            <a:off x="6991170" y="2814876"/>
            <a:ext cx="647820" cy="647820"/>
          </a:xfrm>
          <a:prstGeom prst="roundRect">
            <a:avLst>
              <a:gd name="adj" fmla="val 50000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12"/>
          <p:cNvSpPr txBox="1"/>
          <p:nvPr/>
        </p:nvSpPr>
        <p:spPr>
          <a:xfrm>
            <a:off x="7185480" y="2976801"/>
            <a:ext cx="15396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1" name="Text 13"/>
          <p:cNvSpPr txBox="1"/>
          <p:nvPr/>
        </p:nvSpPr>
        <p:spPr>
          <a:xfrm>
            <a:off x="5482947" y="3678554"/>
            <a:ext cx="3664388" cy="60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Aggregate Query with GROUP BY</a:t>
            </a:r>
          </a:p>
        </p:txBody>
      </p:sp>
      <p:sp>
        <p:nvSpPr>
          <p:cNvPr id="342" name="Text 14"/>
          <p:cNvSpPr txBox="1"/>
          <p:nvPr/>
        </p:nvSpPr>
        <p:spPr>
          <a:xfrm>
            <a:off x="5482947" y="4421504"/>
            <a:ext cx="3664388" cy="2212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SELECT wk_code, SUM(total_sales) AS total_revenue, SUM(profit) AS total_profit, AVG(profit) AS avg_quarterly_profit FROM revenue GROUP BY wk_code HAVING SUM(profit)&gt;0;</a:t>
            </a:r>
          </a:p>
        </p:txBody>
      </p:sp>
      <p:sp>
        <p:nvSpPr>
          <p:cNvPr id="343" name="Text 15"/>
          <p:cNvSpPr txBox="1"/>
          <p:nvPr/>
        </p:nvSpPr>
        <p:spPr>
          <a:xfrm>
            <a:off x="5482947" y="6586298"/>
            <a:ext cx="3664388" cy="495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Calculates cumulative and average profitability per workshop across all quarters.</a:t>
            </a:r>
          </a:p>
        </p:txBody>
      </p:sp>
      <p:sp>
        <p:nvSpPr>
          <p:cNvPr id="344" name="Shape 16"/>
          <p:cNvSpPr/>
          <p:nvPr/>
        </p:nvSpPr>
        <p:spPr>
          <a:xfrm>
            <a:off x="9609534" y="3138726"/>
            <a:ext cx="4157068" cy="4212074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17"/>
          <p:cNvSpPr/>
          <p:nvPr/>
        </p:nvSpPr>
        <p:spPr>
          <a:xfrm>
            <a:off x="9609534" y="3108245"/>
            <a:ext cx="4157068" cy="121921"/>
          </a:xfrm>
          <a:prstGeom prst="roundRect">
            <a:avLst>
              <a:gd name="adj" fmla="val 26572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Shape 18"/>
          <p:cNvSpPr/>
          <p:nvPr/>
        </p:nvSpPr>
        <p:spPr>
          <a:xfrm>
            <a:off x="11364099" y="2814876"/>
            <a:ext cx="647820" cy="647820"/>
          </a:xfrm>
          <a:prstGeom prst="roundRect">
            <a:avLst>
              <a:gd name="adj" fmla="val 50000"/>
            </a:avLst>
          </a:prstGeom>
          <a:solidFill>
            <a:srgbClr val="2D2E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19"/>
          <p:cNvSpPr txBox="1"/>
          <p:nvPr/>
        </p:nvSpPr>
        <p:spPr>
          <a:xfrm>
            <a:off x="11558409" y="2976801"/>
            <a:ext cx="153963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8" name="Text 20"/>
          <p:cNvSpPr txBox="1"/>
          <p:nvPr/>
        </p:nvSpPr>
        <p:spPr>
          <a:xfrm>
            <a:off x="9855875" y="3678554"/>
            <a:ext cx="3664388" cy="60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Subquery for Performance Analysis</a:t>
            </a:r>
          </a:p>
        </p:txBody>
      </p:sp>
      <p:sp>
        <p:nvSpPr>
          <p:cNvPr id="349" name="Text 21"/>
          <p:cNvSpPr txBox="1"/>
          <p:nvPr/>
        </p:nvSpPr>
        <p:spPr>
          <a:xfrm>
            <a:off x="9855875" y="4421504"/>
            <a:ext cx="3664388" cy="1259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SELECT wk_name, score FROM workshop WHERE score &gt; (SELECT AVG(score) FROM workshop);</a:t>
            </a:r>
          </a:p>
        </p:txBody>
      </p:sp>
      <p:sp>
        <p:nvSpPr>
          <p:cNvPr id="350" name="Text 22"/>
          <p:cNvSpPr txBox="1"/>
          <p:nvPr/>
        </p:nvSpPr>
        <p:spPr>
          <a:xfrm>
            <a:off x="9855875" y="5568672"/>
            <a:ext cx="3664388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Identifies high-performing workshops exceeding system-wide average score.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 txBox="1"/>
          <p:nvPr/>
        </p:nvSpPr>
        <p:spPr>
          <a:xfrm>
            <a:off x="782716" y="879752"/>
            <a:ext cx="10865403" cy="53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300"/>
              </a:lnSpc>
              <a:defRPr b="1" sz="35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Referential Integrity &amp; Data Consistency Assurance</a:t>
            </a:r>
          </a:p>
        </p:txBody>
      </p:sp>
      <p:sp>
        <p:nvSpPr>
          <p:cNvPr id="353" name="Text 1"/>
          <p:cNvSpPr txBox="1"/>
          <p:nvPr/>
        </p:nvSpPr>
        <p:spPr>
          <a:xfrm>
            <a:off x="782716" y="1827133"/>
            <a:ext cx="13064967" cy="5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Referential integrity enforced through foreign key policies, ensuring no orphaned records and maintaining transactional consistency across all workshop operations.</a:t>
            </a:r>
          </a:p>
        </p:txBody>
      </p:sp>
      <p:sp>
        <p:nvSpPr>
          <p:cNvPr id="354" name="Shape 2"/>
          <p:cNvSpPr/>
          <p:nvPr/>
        </p:nvSpPr>
        <p:spPr>
          <a:xfrm>
            <a:off x="782717" y="2634495"/>
            <a:ext cx="13064966" cy="3907870"/>
          </a:xfrm>
          <a:prstGeom prst="roundRect">
            <a:avLst>
              <a:gd name="adj" fmla="val 751"/>
            </a:avLst>
          </a:prstGeom>
          <a:ln w="7620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3"/>
          <p:cNvSpPr/>
          <p:nvPr/>
        </p:nvSpPr>
        <p:spPr>
          <a:xfrm>
            <a:off x="790337" y="2642116"/>
            <a:ext cx="13049726" cy="543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4"/>
          <p:cNvSpPr txBox="1"/>
          <p:nvPr/>
        </p:nvSpPr>
        <p:spPr>
          <a:xfrm>
            <a:off x="985956" y="2767132"/>
            <a:ext cx="1155795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Relationship</a:t>
            </a:r>
          </a:p>
        </p:txBody>
      </p:sp>
      <p:sp>
        <p:nvSpPr>
          <p:cNvPr id="357" name="Text 5"/>
          <p:cNvSpPr txBox="1"/>
          <p:nvPr/>
        </p:nvSpPr>
        <p:spPr>
          <a:xfrm>
            <a:off x="4252197" y="2767132"/>
            <a:ext cx="1102867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ON DELETE</a:t>
            </a:r>
          </a:p>
        </p:txBody>
      </p:sp>
      <p:sp>
        <p:nvSpPr>
          <p:cNvPr id="358" name="Text 6"/>
          <p:cNvSpPr txBox="1"/>
          <p:nvPr/>
        </p:nvSpPr>
        <p:spPr>
          <a:xfrm>
            <a:off x="7514629" y="2767132"/>
            <a:ext cx="1120540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ON UPDATE</a:t>
            </a:r>
          </a:p>
        </p:txBody>
      </p:sp>
      <p:sp>
        <p:nvSpPr>
          <p:cNvPr id="359" name="Text 7"/>
          <p:cNvSpPr txBox="1"/>
          <p:nvPr/>
        </p:nvSpPr>
        <p:spPr>
          <a:xfrm>
            <a:off x="10777060" y="2767132"/>
            <a:ext cx="541971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Effect</a:t>
            </a:r>
          </a:p>
        </p:txBody>
      </p:sp>
      <p:sp>
        <p:nvSpPr>
          <p:cNvPr id="360" name="Shape 8"/>
          <p:cNvSpPr/>
          <p:nvPr/>
        </p:nvSpPr>
        <p:spPr>
          <a:xfrm>
            <a:off x="790337" y="3185754"/>
            <a:ext cx="13049726" cy="837249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9"/>
          <p:cNvSpPr txBox="1"/>
          <p:nvPr/>
        </p:nvSpPr>
        <p:spPr>
          <a:xfrm>
            <a:off x="985956" y="3310771"/>
            <a:ext cx="1812778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revenue → workshop</a:t>
            </a:r>
          </a:p>
        </p:txBody>
      </p:sp>
      <p:sp>
        <p:nvSpPr>
          <p:cNvPr id="362" name="Text 10"/>
          <p:cNvSpPr txBox="1"/>
          <p:nvPr/>
        </p:nvSpPr>
        <p:spPr>
          <a:xfrm>
            <a:off x="4252197" y="3310771"/>
            <a:ext cx="933668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CASCADE</a:t>
            </a:r>
          </a:p>
        </p:txBody>
      </p:sp>
      <p:sp>
        <p:nvSpPr>
          <p:cNvPr id="363" name="Text 11"/>
          <p:cNvSpPr txBox="1"/>
          <p:nvPr/>
        </p:nvSpPr>
        <p:spPr>
          <a:xfrm>
            <a:off x="7514629" y="3310771"/>
            <a:ext cx="1060637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64" name="Text 12"/>
          <p:cNvSpPr txBox="1"/>
          <p:nvPr/>
        </p:nvSpPr>
        <p:spPr>
          <a:xfrm>
            <a:off x="10777060" y="3310771"/>
            <a:ext cx="2867383" cy="5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Dependent revenue records auto-deleted when workshop removed</a:t>
            </a:r>
          </a:p>
        </p:txBody>
      </p:sp>
      <p:sp>
        <p:nvSpPr>
          <p:cNvPr id="365" name="Shape 13"/>
          <p:cNvSpPr/>
          <p:nvPr/>
        </p:nvSpPr>
        <p:spPr>
          <a:xfrm>
            <a:off x="790337" y="4023002"/>
            <a:ext cx="13049726" cy="8372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14"/>
          <p:cNvSpPr txBox="1"/>
          <p:nvPr/>
        </p:nvSpPr>
        <p:spPr>
          <a:xfrm>
            <a:off x="985956" y="4148018"/>
            <a:ext cx="1908028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manages → workshop</a:t>
            </a:r>
          </a:p>
        </p:txBody>
      </p:sp>
      <p:sp>
        <p:nvSpPr>
          <p:cNvPr id="367" name="Text 15"/>
          <p:cNvSpPr txBox="1"/>
          <p:nvPr/>
        </p:nvSpPr>
        <p:spPr>
          <a:xfrm>
            <a:off x="4252197" y="4148018"/>
            <a:ext cx="933668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CASCADE</a:t>
            </a:r>
          </a:p>
        </p:txBody>
      </p:sp>
      <p:sp>
        <p:nvSpPr>
          <p:cNvPr id="368" name="Text 16"/>
          <p:cNvSpPr txBox="1"/>
          <p:nvPr/>
        </p:nvSpPr>
        <p:spPr>
          <a:xfrm>
            <a:off x="7514629" y="4148018"/>
            <a:ext cx="1060637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69" name="Text 17"/>
          <p:cNvSpPr txBox="1"/>
          <p:nvPr/>
        </p:nvSpPr>
        <p:spPr>
          <a:xfrm>
            <a:off x="10777060" y="4148018"/>
            <a:ext cx="2867383" cy="5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Manager assignments removed when workshop deleted</a:t>
            </a:r>
          </a:p>
        </p:txBody>
      </p:sp>
      <p:sp>
        <p:nvSpPr>
          <p:cNvPr id="370" name="Shape 18"/>
          <p:cNvSpPr/>
          <p:nvPr/>
        </p:nvSpPr>
        <p:spPr>
          <a:xfrm>
            <a:off x="790337" y="4860249"/>
            <a:ext cx="13049726" cy="837249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ext 19"/>
          <p:cNvSpPr txBox="1"/>
          <p:nvPr/>
        </p:nvSpPr>
        <p:spPr>
          <a:xfrm>
            <a:off x="985956" y="4985265"/>
            <a:ext cx="190830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area → area_incharge</a:t>
            </a:r>
          </a:p>
        </p:txBody>
      </p:sp>
      <p:sp>
        <p:nvSpPr>
          <p:cNvPr id="372" name="Text 20"/>
          <p:cNvSpPr txBox="1"/>
          <p:nvPr/>
        </p:nvSpPr>
        <p:spPr>
          <a:xfrm>
            <a:off x="4252197" y="4985265"/>
            <a:ext cx="106063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73" name="Text 21"/>
          <p:cNvSpPr txBox="1"/>
          <p:nvPr/>
        </p:nvSpPr>
        <p:spPr>
          <a:xfrm>
            <a:off x="7514629" y="4985265"/>
            <a:ext cx="106063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74" name="Text 22"/>
          <p:cNvSpPr txBox="1"/>
          <p:nvPr/>
        </p:nvSpPr>
        <p:spPr>
          <a:xfrm>
            <a:off x="10777060" y="4985265"/>
            <a:ext cx="2867383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Prevents deletion of supervisors with active areas</a:t>
            </a:r>
          </a:p>
        </p:txBody>
      </p:sp>
      <p:sp>
        <p:nvSpPr>
          <p:cNvPr id="375" name="Shape 23"/>
          <p:cNvSpPr/>
          <p:nvPr/>
        </p:nvSpPr>
        <p:spPr>
          <a:xfrm>
            <a:off x="790337" y="5697497"/>
            <a:ext cx="13049726" cy="83724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24"/>
          <p:cNvSpPr txBox="1"/>
          <p:nvPr/>
        </p:nvSpPr>
        <p:spPr>
          <a:xfrm>
            <a:off x="985956" y="5822512"/>
            <a:ext cx="1505634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workshop → area</a:t>
            </a:r>
          </a:p>
        </p:txBody>
      </p:sp>
      <p:sp>
        <p:nvSpPr>
          <p:cNvPr id="377" name="Text 25"/>
          <p:cNvSpPr txBox="1"/>
          <p:nvPr/>
        </p:nvSpPr>
        <p:spPr>
          <a:xfrm>
            <a:off x="4252197" y="5822512"/>
            <a:ext cx="106063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78" name="Text 26"/>
          <p:cNvSpPr txBox="1"/>
          <p:nvPr/>
        </p:nvSpPr>
        <p:spPr>
          <a:xfrm>
            <a:off x="7514629" y="5822512"/>
            <a:ext cx="106063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 ACTION</a:t>
            </a:r>
          </a:p>
        </p:txBody>
      </p:sp>
      <p:sp>
        <p:nvSpPr>
          <p:cNvPr id="379" name="Text 27"/>
          <p:cNvSpPr txBox="1"/>
          <p:nvPr/>
        </p:nvSpPr>
        <p:spPr>
          <a:xfrm>
            <a:off x="10777060" y="5822512"/>
            <a:ext cx="2867383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Prevents area deletion if workshops exist in that region</a:t>
            </a:r>
          </a:p>
        </p:txBody>
      </p:sp>
      <p:sp>
        <p:nvSpPr>
          <p:cNvPr id="380" name="Text 28"/>
          <p:cNvSpPr txBox="1"/>
          <p:nvPr/>
        </p:nvSpPr>
        <p:spPr>
          <a:xfrm>
            <a:off x="782716" y="6762512"/>
            <a:ext cx="13064967" cy="5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00"/>
              </a:lnSpc>
              <a:defRPr b="1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Integrity Assurance:</a:t>
            </a:r>
            <a:r>
              <a:rPr b="0"/>
              <a:t> ✓ Zero orphan records ✓ Strong foreign key enforcement ✓ ACID-compliant transactions ✓ 100% consistency maintained across stress testing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 txBox="1"/>
          <p:nvPr/>
        </p:nvSpPr>
        <p:spPr>
          <a:xfrm>
            <a:off x="863797" y="810816"/>
            <a:ext cx="8058313" cy="598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System Features &amp; Implementation</a:t>
            </a:r>
          </a:p>
        </p:txBody>
      </p:sp>
      <p:sp>
        <p:nvSpPr>
          <p:cNvPr id="383" name="Text 1"/>
          <p:cNvSpPr txBox="1"/>
          <p:nvPr/>
        </p:nvSpPr>
        <p:spPr>
          <a:xfrm>
            <a:off x="863797" y="1510664"/>
            <a:ext cx="3458414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Normalization &amp; Data Integrity</a:t>
            </a:r>
          </a:p>
        </p:txBody>
      </p:sp>
      <p:sp>
        <p:nvSpPr>
          <p:cNvPr id="384" name="Text 2"/>
          <p:cNvSpPr txBox="1"/>
          <p:nvPr/>
        </p:nvSpPr>
        <p:spPr>
          <a:xfrm>
            <a:off x="863797" y="2141220"/>
            <a:ext cx="5066818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All tables normalized to Third Normal Form (3NF)</a:t>
            </a:r>
          </a:p>
        </p:txBody>
      </p:sp>
      <p:sp>
        <p:nvSpPr>
          <p:cNvPr id="385" name="Text 3"/>
          <p:cNvSpPr txBox="1"/>
          <p:nvPr/>
        </p:nvSpPr>
        <p:spPr>
          <a:xfrm>
            <a:off x="863797" y="2540674"/>
            <a:ext cx="6424626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Zero redundancy, elimination of update and insertion anomalies</a:t>
            </a:r>
          </a:p>
        </p:txBody>
      </p:sp>
      <p:sp>
        <p:nvSpPr>
          <p:cNvPr id="386" name="Text 4"/>
          <p:cNvSpPr txBox="1"/>
          <p:nvPr/>
        </p:nvSpPr>
        <p:spPr>
          <a:xfrm>
            <a:off x="863797" y="2940129"/>
            <a:ext cx="7955745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Proper enforcement of referential integrity, primary, foreign, and composite keys</a:t>
            </a:r>
          </a:p>
        </p:txBody>
      </p:sp>
      <p:sp>
        <p:nvSpPr>
          <p:cNvPr id="387" name="Text 5"/>
          <p:cNvSpPr txBox="1"/>
          <p:nvPr/>
        </p:nvSpPr>
        <p:spPr>
          <a:xfrm>
            <a:off x="863797" y="3339584"/>
            <a:ext cx="6723176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Constraints: CHECK, UNIQUE, NOT NULL, and cascading actions</a:t>
            </a:r>
          </a:p>
        </p:txBody>
      </p:sp>
      <p:sp>
        <p:nvSpPr>
          <p:cNvPr id="388" name="Text 6"/>
          <p:cNvSpPr txBox="1"/>
          <p:nvPr/>
        </p:nvSpPr>
        <p:spPr>
          <a:xfrm>
            <a:off x="863797" y="3987403"/>
            <a:ext cx="2426055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Triggers &amp; Functions</a:t>
            </a:r>
          </a:p>
        </p:txBody>
      </p:sp>
      <p:sp>
        <p:nvSpPr>
          <p:cNvPr id="389" name="Text 7"/>
          <p:cNvSpPr txBox="1"/>
          <p:nvPr/>
        </p:nvSpPr>
        <p:spPr>
          <a:xfrm>
            <a:off x="863797" y="4617958"/>
            <a:ext cx="8684408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Automation using PL/pgSQL-based triggers for transaction validation and timestamping</a:t>
            </a:r>
          </a:p>
        </p:txBody>
      </p:sp>
      <p:sp>
        <p:nvSpPr>
          <p:cNvPr id="390" name="Text 8"/>
          <p:cNvSpPr txBox="1"/>
          <p:nvPr/>
        </p:nvSpPr>
        <p:spPr>
          <a:xfrm>
            <a:off x="863797" y="5017413"/>
            <a:ext cx="7820491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Enforcement of business rules and real-time updates across dependent tables</a:t>
            </a:r>
          </a:p>
        </p:txBody>
      </p:sp>
      <p:sp>
        <p:nvSpPr>
          <p:cNvPr id="391" name="Text 9"/>
          <p:cNvSpPr txBox="1"/>
          <p:nvPr/>
        </p:nvSpPr>
        <p:spPr>
          <a:xfrm>
            <a:off x="863797" y="5665232"/>
            <a:ext cx="2350767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392" name="Text 10"/>
          <p:cNvSpPr txBox="1"/>
          <p:nvPr/>
        </p:nvSpPr>
        <p:spPr>
          <a:xfrm>
            <a:off x="863797" y="6295787"/>
            <a:ext cx="3857967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Database Platform: PostgreSQL 12+</a:t>
            </a:r>
          </a:p>
        </p:txBody>
      </p:sp>
      <p:sp>
        <p:nvSpPr>
          <p:cNvPr id="393" name="Text 11"/>
          <p:cNvSpPr txBox="1"/>
          <p:nvPr/>
        </p:nvSpPr>
        <p:spPr>
          <a:xfrm>
            <a:off x="863797" y="6695241"/>
            <a:ext cx="978056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Components: Data Entry &amp; API, PostgreSQL Core, Reporting &amp; Dashboards, Automated Feedback</a:t>
            </a:r>
          </a:p>
        </p:txBody>
      </p:sp>
      <p:sp>
        <p:nvSpPr>
          <p:cNvPr id="394" name="Text 12"/>
          <p:cNvSpPr txBox="1"/>
          <p:nvPr/>
        </p:nvSpPr>
        <p:spPr>
          <a:xfrm>
            <a:off x="863797" y="7094695"/>
            <a:ext cx="9172186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Architecture focuses on data integrity, constraint enforcement, and performance optimization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 txBox="1"/>
          <p:nvPr/>
        </p:nvSpPr>
        <p:spPr>
          <a:xfrm>
            <a:off x="851296" y="585667"/>
            <a:ext cx="7137649" cy="58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Performance &amp; Testing Results</a:t>
            </a:r>
          </a:p>
        </p:txBody>
      </p:sp>
      <p:sp>
        <p:nvSpPr>
          <p:cNvPr id="397" name="Text 1"/>
          <p:cNvSpPr txBox="1"/>
          <p:nvPr/>
        </p:nvSpPr>
        <p:spPr>
          <a:xfrm>
            <a:off x="851296" y="1615915"/>
            <a:ext cx="4507509" cy="30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Key performance metrics achieved by the system:</a:t>
            </a:r>
          </a:p>
        </p:txBody>
      </p:sp>
      <p:sp>
        <p:nvSpPr>
          <p:cNvPr id="398" name="Text 2"/>
          <p:cNvSpPr txBox="1"/>
          <p:nvPr/>
        </p:nvSpPr>
        <p:spPr>
          <a:xfrm>
            <a:off x="851296" y="2174557"/>
            <a:ext cx="3353694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Trigger Execution Speed</a:t>
            </a:r>
            <a:r>
              <a:rPr b="0"/>
              <a:t> &lt; 5ms</a:t>
            </a:r>
          </a:p>
        </p:txBody>
      </p:sp>
      <p:sp>
        <p:nvSpPr>
          <p:cNvPr id="399" name="Text 3"/>
          <p:cNvSpPr txBox="1"/>
          <p:nvPr/>
        </p:nvSpPr>
        <p:spPr>
          <a:xfrm>
            <a:off x="851296" y="2568296"/>
            <a:ext cx="6399710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Test Executions</a:t>
            </a:r>
            <a:r>
              <a:rPr b="0"/>
              <a:t> 1000+ successful test executions with zero errors</a:t>
            </a:r>
          </a:p>
        </p:txBody>
      </p:sp>
      <p:sp>
        <p:nvSpPr>
          <p:cNvPr id="400" name="Text 4"/>
          <p:cNvSpPr txBox="1"/>
          <p:nvPr/>
        </p:nvSpPr>
        <p:spPr>
          <a:xfrm>
            <a:off x="851296" y="2962037"/>
            <a:ext cx="3890567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Referential Integrity</a:t>
            </a:r>
            <a:r>
              <a:rPr b="0"/>
              <a:t> 100% maintained</a:t>
            </a:r>
          </a:p>
        </p:txBody>
      </p:sp>
      <p:sp>
        <p:nvSpPr>
          <p:cNvPr id="401" name="Text 5"/>
          <p:cNvSpPr txBox="1"/>
          <p:nvPr/>
        </p:nvSpPr>
        <p:spPr>
          <a:xfrm>
            <a:off x="851296" y="3355776"/>
            <a:ext cx="3404693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Query Speed Improvement</a:t>
            </a:r>
            <a:r>
              <a:rPr b="0"/>
              <a:t> 90%</a:t>
            </a:r>
          </a:p>
        </p:txBody>
      </p:sp>
      <p:sp>
        <p:nvSpPr>
          <p:cNvPr id="402" name="Text 6"/>
          <p:cNvSpPr txBox="1"/>
          <p:nvPr/>
        </p:nvSpPr>
        <p:spPr>
          <a:xfrm>
            <a:off x="851296" y="3749516"/>
            <a:ext cx="5185272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Administrative Time Reduction</a:t>
            </a:r>
            <a:r>
              <a:rPr b="0"/>
              <a:t> 70% via automation</a:t>
            </a:r>
          </a:p>
        </p:txBody>
      </p:sp>
      <p:sp>
        <p:nvSpPr>
          <p:cNvPr id="403" name="Text 7"/>
          <p:cNvSpPr txBox="1"/>
          <p:nvPr/>
        </p:nvSpPr>
        <p:spPr>
          <a:xfrm>
            <a:off x="851296" y="4388048"/>
            <a:ext cx="3273340" cy="473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b="1" sz="30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Project Outcomes</a:t>
            </a:r>
          </a:p>
        </p:txBody>
      </p:sp>
      <p:sp>
        <p:nvSpPr>
          <p:cNvPr id="404" name="Text 8"/>
          <p:cNvSpPr txBox="1"/>
          <p:nvPr/>
        </p:nvSpPr>
        <p:spPr>
          <a:xfrm>
            <a:off x="851296" y="5190887"/>
            <a:ext cx="4252616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Summary of the project's successful outcomes:</a:t>
            </a:r>
          </a:p>
        </p:txBody>
      </p:sp>
      <p:sp>
        <p:nvSpPr>
          <p:cNvPr id="405" name="Text 9"/>
          <p:cNvSpPr txBox="1"/>
          <p:nvPr/>
        </p:nvSpPr>
        <p:spPr>
          <a:xfrm>
            <a:off x="851296" y="5749528"/>
            <a:ext cx="6612633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Automated Database Handling</a:t>
            </a:r>
            <a:r>
              <a:rPr b="0"/>
              <a:t> 100% automated database handling</a:t>
            </a:r>
          </a:p>
        </p:txBody>
      </p:sp>
      <p:sp>
        <p:nvSpPr>
          <p:cNvPr id="406" name="Text 10"/>
          <p:cNvSpPr txBox="1"/>
          <p:nvPr/>
        </p:nvSpPr>
        <p:spPr>
          <a:xfrm>
            <a:off x="851296" y="6143268"/>
            <a:ext cx="4918473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Data Integrity</a:t>
            </a:r>
            <a:r>
              <a:rPr b="0"/>
              <a:t> Zero data anomalies or redundancy</a:t>
            </a:r>
          </a:p>
        </p:txBody>
      </p:sp>
      <p:sp>
        <p:nvSpPr>
          <p:cNvPr id="407" name="Text 11"/>
          <p:cNvSpPr txBox="1"/>
          <p:nvPr/>
        </p:nvSpPr>
        <p:spPr>
          <a:xfrm>
            <a:off x="851296" y="6537007"/>
            <a:ext cx="5414369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Schema Normalization</a:t>
            </a:r>
            <a:r>
              <a:rPr b="0"/>
              <a:t> Fully normalized schema (3NF)</a:t>
            </a:r>
          </a:p>
        </p:txBody>
      </p:sp>
      <p:sp>
        <p:nvSpPr>
          <p:cNvPr id="408" name="Text 12"/>
          <p:cNvSpPr txBox="1"/>
          <p:nvPr/>
        </p:nvSpPr>
        <p:spPr>
          <a:xfrm>
            <a:off x="851296" y="6930746"/>
            <a:ext cx="5030888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Query Optimization</a:t>
            </a:r>
            <a:r>
              <a:rPr b="0"/>
              <a:t> High-speed query optimization</a:t>
            </a:r>
          </a:p>
        </p:txBody>
      </p:sp>
      <p:sp>
        <p:nvSpPr>
          <p:cNvPr id="409" name="Text 13"/>
          <p:cNvSpPr txBox="1"/>
          <p:nvPr/>
        </p:nvSpPr>
        <p:spPr>
          <a:xfrm>
            <a:off x="851296" y="7324487"/>
            <a:ext cx="5433716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b="1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Comprehensive Testing</a:t>
            </a:r>
            <a:r>
              <a:rPr b="0"/>
              <a:t> Comprehensive testing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 0"/>
          <p:cNvSpPr txBox="1"/>
          <p:nvPr/>
        </p:nvSpPr>
        <p:spPr>
          <a:xfrm>
            <a:off x="863797" y="1450061"/>
            <a:ext cx="9310056" cy="59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Future Enhancements &amp; Technical Stack</a:t>
            </a:r>
          </a:p>
        </p:txBody>
      </p:sp>
      <p:sp>
        <p:nvSpPr>
          <p:cNvPr id="412" name="Text 1"/>
          <p:cNvSpPr txBox="1"/>
          <p:nvPr/>
        </p:nvSpPr>
        <p:spPr>
          <a:xfrm>
            <a:off x="863797" y="2149911"/>
            <a:ext cx="2627177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Future Enhancements:</a:t>
            </a:r>
          </a:p>
        </p:txBody>
      </p:sp>
      <p:sp>
        <p:nvSpPr>
          <p:cNvPr id="413" name="Text 2"/>
          <p:cNvSpPr txBox="1"/>
          <p:nvPr/>
        </p:nvSpPr>
        <p:spPr>
          <a:xfrm>
            <a:off x="863797" y="2780466"/>
            <a:ext cx="715539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Role-Based Access Control (RBAC) with JWT for secure authentication</a:t>
            </a:r>
          </a:p>
        </p:txBody>
      </p:sp>
      <p:sp>
        <p:nvSpPr>
          <p:cNvPr id="414" name="Text 3"/>
          <p:cNvSpPr txBox="1"/>
          <p:nvPr/>
        </p:nvSpPr>
        <p:spPr>
          <a:xfrm>
            <a:off x="863797" y="3179921"/>
            <a:ext cx="5100025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Analytics Dashboard using SQL window functions</a:t>
            </a:r>
          </a:p>
        </p:txBody>
      </p:sp>
      <p:sp>
        <p:nvSpPr>
          <p:cNvPr id="415" name="Text 4"/>
          <p:cNvSpPr txBox="1"/>
          <p:nvPr/>
        </p:nvSpPr>
        <p:spPr>
          <a:xfrm>
            <a:off x="863797" y="3579376"/>
            <a:ext cx="6836502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Inventory Management Integration for cost and supply chain linkage</a:t>
            </a:r>
          </a:p>
        </p:txBody>
      </p:sp>
      <p:sp>
        <p:nvSpPr>
          <p:cNvPr id="416" name="Text 5"/>
          <p:cNvSpPr txBox="1"/>
          <p:nvPr/>
        </p:nvSpPr>
        <p:spPr>
          <a:xfrm>
            <a:off x="863797" y="3978831"/>
            <a:ext cx="4183082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Microservices Architecture for scalability</a:t>
            </a:r>
          </a:p>
        </p:txBody>
      </p:sp>
      <p:sp>
        <p:nvSpPr>
          <p:cNvPr id="417" name="Text 6"/>
          <p:cNvSpPr txBox="1"/>
          <p:nvPr/>
        </p:nvSpPr>
        <p:spPr>
          <a:xfrm>
            <a:off x="863797" y="4626650"/>
            <a:ext cx="1899272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19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Technical Stack:</a:t>
            </a:r>
          </a:p>
        </p:txBody>
      </p:sp>
      <p:sp>
        <p:nvSpPr>
          <p:cNvPr id="418" name="Text 7"/>
          <p:cNvSpPr txBox="1"/>
          <p:nvPr/>
        </p:nvSpPr>
        <p:spPr>
          <a:xfrm>
            <a:off x="863797" y="5257205"/>
            <a:ext cx="1949972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PostgreSQL 12+</a:t>
            </a:r>
          </a:p>
        </p:txBody>
      </p:sp>
      <p:sp>
        <p:nvSpPr>
          <p:cNvPr id="419" name="Text 8"/>
          <p:cNvSpPr txBox="1"/>
          <p:nvPr/>
        </p:nvSpPr>
        <p:spPr>
          <a:xfrm>
            <a:off x="863797" y="5656658"/>
            <a:ext cx="2339921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PL/pgSQL Functions</a:t>
            </a:r>
          </a:p>
        </p:txBody>
      </p:sp>
      <p:sp>
        <p:nvSpPr>
          <p:cNvPr id="420" name="Text 9"/>
          <p:cNvSpPr txBox="1"/>
          <p:nvPr/>
        </p:nvSpPr>
        <p:spPr>
          <a:xfrm>
            <a:off x="863797" y="6056114"/>
            <a:ext cx="2107786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pgAdmin Interface</a:t>
            </a:r>
          </a:p>
        </p:txBody>
      </p:sp>
      <p:sp>
        <p:nvSpPr>
          <p:cNvPr id="421" name="Text 10"/>
          <p:cNvSpPr txBox="1"/>
          <p:nvPr/>
        </p:nvSpPr>
        <p:spPr>
          <a:xfrm>
            <a:off x="863797" y="6455569"/>
            <a:ext cx="1983496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SQL DDL &amp; DML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 txBox="1"/>
          <p:nvPr/>
        </p:nvSpPr>
        <p:spPr>
          <a:xfrm>
            <a:off x="795694" y="546972"/>
            <a:ext cx="2556205" cy="54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5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 Conclusion</a:t>
            </a:r>
          </a:p>
        </p:txBody>
      </p:sp>
      <p:sp>
        <p:nvSpPr>
          <p:cNvPr id="424" name="Text 1"/>
          <p:cNvSpPr txBox="1"/>
          <p:nvPr/>
        </p:nvSpPr>
        <p:spPr>
          <a:xfrm>
            <a:off x="795694" y="1509831"/>
            <a:ext cx="1263025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The KTM Workshop Management System exemplifies the real-world application of Database Management System principles, successfully combining:</a:t>
            </a:r>
          </a:p>
        </p:txBody>
      </p:sp>
      <p:sp>
        <p:nvSpPr>
          <p:cNvPr id="425" name="Shape 2"/>
          <p:cNvSpPr/>
          <p:nvPr/>
        </p:nvSpPr>
        <p:spPr>
          <a:xfrm>
            <a:off x="795694" y="2031920"/>
            <a:ext cx="6420089" cy="11435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3"/>
          <p:cNvSpPr txBox="1"/>
          <p:nvPr/>
        </p:nvSpPr>
        <p:spPr>
          <a:xfrm>
            <a:off x="1017388" y="2253614"/>
            <a:ext cx="2639871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17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Normalization techniques</a:t>
            </a:r>
          </a:p>
        </p:txBody>
      </p:sp>
      <p:sp>
        <p:nvSpPr>
          <p:cNvPr id="427" name="Text 4"/>
          <p:cNvSpPr txBox="1"/>
          <p:nvPr/>
        </p:nvSpPr>
        <p:spPr>
          <a:xfrm>
            <a:off x="1017388" y="2655451"/>
            <a:ext cx="3110931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To achieve Third Normal Form (3NF)</a:t>
            </a:r>
          </a:p>
        </p:txBody>
      </p:sp>
      <p:sp>
        <p:nvSpPr>
          <p:cNvPr id="428" name="Shape 5"/>
          <p:cNvSpPr/>
          <p:nvPr/>
        </p:nvSpPr>
        <p:spPr>
          <a:xfrm>
            <a:off x="7414617" y="2031920"/>
            <a:ext cx="6420089" cy="11435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6"/>
          <p:cNvSpPr txBox="1"/>
          <p:nvPr/>
        </p:nvSpPr>
        <p:spPr>
          <a:xfrm>
            <a:off x="7636312" y="2253614"/>
            <a:ext cx="3479224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17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Automated triggers and functions</a:t>
            </a:r>
          </a:p>
        </p:txBody>
      </p:sp>
      <p:sp>
        <p:nvSpPr>
          <p:cNvPr id="430" name="Text 7"/>
          <p:cNvSpPr txBox="1"/>
          <p:nvPr/>
        </p:nvSpPr>
        <p:spPr>
          <a:xfrm>
            <a:off x="7636312" y="2655451"/>
            <a:ext cx="2490224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For real-time data processing</a:t>
            </a:r>
          </a:p>
        </p:txBody>
      </p:sp>
      <p:sp>
        <p:nvSpPr>
          <p:cNvPr id="431" name="Shape 8"/>
          <p:cNvSpPr/>
          <p:nvPr/>
        </p:nvSpPr>
        <p:spPr>
          <a:xfrm>
            <a:off x="795694" y="3374349"/>
            <a:ext cx="6420089" cy="11435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9"/>
          <p:cNvSpPr txBox="1"/>
          <p:nvPr/>
        </p:nvSpPr>
        <p:spPr>
          <a:xfrm>
            <a:off x="1017388" y="3596044"/>
            <a:ext cx="3648107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17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Comprehensive referential integrity</a:t>
            </a:r>
          </a:p>
        </p:txBody>
      </p:sp>
      <p:sp>
        <p:nvSpPr>
          <p:cNvPr id="433" name="Text 10"/>
          <p:cNvSpPr txBox="1"/>
          <p:nvPr/>
        </p:nvSpPr>
        <p:spPr>
          <a:xfrm>
            <a:off x="1017388" y="3997881"/>
            <a:ext cx="2342327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And constraint enforcement</a:t>
            </a:r>
          </a:p>
        </p:txBody>
      </p:sp>
      <p:sp>
        <p:nvSpPr>
          <p:cNvPr id="434" name="Shape 11"/>
          <p:cNvSpPr/>
          <p:nvPr/>
        </p:nvSpPr>
        <p:spPr>
          <a:xfrm>
            <a:off x="7414617" y="3374349"/>
            <a:ext cx="6420089" cy="11435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12"/>
          <p:cNvSpPr txBox="1"/>
          <p:nvPr/>
        </p:nvSpPr>
        <p:spPr>
          <a:xfrm>
            <a:off x="7636312" y="3596044"/>
            <a:ext cx="2184773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17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Scalable architecture</a:t>
            </a:r>
          </a:p>
        </p:txBody>
      </p:sp>
      <p:sp>
        <p:nvSpPr>
          <p:cNvPr id="436" name="Text 13"/>
          <p:cNvSpPr txBox="1"/>
          <p:nvPr/>
        </p:nvSpPr>
        <p:spPr>
          <a:xfrm>
            <a:off x="7636312" y="3997881"/>
            <a:ext cx="3623829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Designed for production-grade deployment</a:t>
            </a:r>
          </a:p>
        </p:txBody>
      </p:sp>
      <p:sp>
        <p:nvSpPr>
          <p:cNvPr id="437" name="Text 14"/>
          <p:cNvSpPr txBox="1"/>
          <p:nvPr/>
        </p:nvSpPr>
        <p:spPr>
          <a:xfrm>
            <a:off x="795694" y="4741664"/>
            <a:ext cx="11067189" cy="2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This project demonstrates how theoretical DBMS concepts translate into practical solutions that deliver measurable business value:</a:t>
            </a:r>
          </a:p>
        </p:txBody>
      </p:sp>
      <p:sp>
        <p:nvSpPr>
          <p:cNvPr id="438" name="Text 15"/>
          <p:cNvSpPr txBox="1"/>
          <p:nvPr/>
        </p:nvSpPr>
        <p:spPr>
          <a:xfrm>
            <a:off x="1677791" y="5363169"/>
            <a:ext cx="1309049" cy="667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100"/>
              </a:lnSpc>
              <a:defRPr b="1" sz="51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439" name="Text 16"/>
          <p:cNvSpPr txBox="1"/>
          <p:nvPr/>
        </p:nvSpPr>
        <p:spPr>
          <a:xfrm>
            <a:off x="795694" y="6268163"/>
            <a:ext cx="3073243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Reduction in administrative overhead</a:t>
            </a:r>
          </a:p>
        </p:txBody>
      </p:sp>
      <p:sp>
        <p:nvSpPr>
          <p:cNvPr id="440" name="Text 17"/>
          <p:cNvSpPr txBox="1"/>
          <p:nvPr/>
        </p:nvSpPr>
        <p:spPr>
          <a:xfrm>
            <a:off x="4999693" y="5363169"/>
            <a:ext cx="1309050" cy="667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100"/>
              </a:lnSpc>
              <a:defRPr b="1" sz="51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441" name="Text 18"/>
          <p:cNvSpPr txBox="1"/>
          <p:nvPr/>
        </p:nvSpPr>
        <p:spPr>
          <a:xfrm>
            <a:off x="4165539" y="6268163"/>
            <a:ext cx="2977357" cy="27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Improvement in query performance</a:t>
            </a:r>
          </a:p>
        </p:txBody>
      </p:sp>
      <p:sp>
        <p:nvSpPr>
          <p:cNvPr id="442" name="Text 19"/>
          <p:cNvSpPr txBox="1"/>
          <p:nvPr/>
        </p:nvSpPr>
        <p:spPr>
          <a:xfrm>
            <a:off x="8141487" y="5363169"/>
            <a:ext cx="1669269" cy="667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100"/>
              </a:lnSpc>
              <a:defRPr b="1" sz="51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443" name="Text 20"/>
          <p:cNvSpPr txBox="1"/>
          <p:nvPr/>
        </p:nvSpPr>
        <p:spPr>
          <a:xfrm>
            <a:off x="7439500" y="6268163"/>
            <a:ext cx="3073242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Data consistency and integrity maintenance</a:t>
            </a:r>
          </a:p>
        </p:txBody>
      </p:sp>
      <p:sp>
        <p:nvSpPr>
          <p:cNvPr id="444" name="Text 21"/>
          <p:cNvSpPr txBox="1"/>
          <p:nvPr/>
        </p:nvSpPr>
        <p:spPr>
          <a:xfrm>
            <a:off x="11589894" y="5363169"/>
            <a:ext cx="1416262" cy="667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100"/>
              </a:lnSpc>
              <a:defRPr b="1" sz="510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Zero</a:t>
            </a:r>
          </a:p>
        </p:txBody>
      </p:sp>
      <p:sp>
        <p:nvSpPr>
          <p:cNvPr id="445" name="Text 22"/>
          <p:cNvSpPr txBox="1"/>
          <p:nvPr/>
        </p:nvSpPr>
        <p:spPr>
          <a:xfrm>
            <a:off x="10761344" y="6268163"/>
            <a:ext cx="3073361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Redundancy across all workshop operations</a:t>
            </a:r>
          </a:p>
        </p:txBody>
      </p:sp>
      <p:sp>
        <p:nvSpPr>
          <p:cNvPr id="446" name="Text 23"/>
          <p:cNvSpPr txBox="1"/>
          <p:nvPr/>
        </p:nvSpPr>
        <p:spPr>
          <a:xfrm>
            <a:off x="795694" y="7088623"/>
            <a:ext cx="13039012" cy="56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The system serves as a foundation for modern enterprise database solutions, showcasing the power of well-designed relational databases in solving complex business challenges.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 txBox="1"/>
          <p:nvPr/>
        </p:nvSpPr>
        <p:spPr>
          <a:xfrm>
            <a:off x="863797" y="2296358"/>
            <a:ext cx="2890864" cy="598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800"/>
              </a:lnSpc>
              <a:defRPr b="1" sz="38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Thank You !!</a:t>
            </a:r>
          </a:p>
        </p:txBody>
      </p:sp>
      <p:sp>
        <p:nvSpPr>
          <p:cNvPr id="449" name="Text 1"/>
          <p:cNvSpPr txBox="1"/>
          <p:nvPr/>
        </p:nvSpPr>
        <p:spPr>
          <a:xfrm>
            <a:off x="863797" y="3341727"/>
            <a:ext cx="1416895" cy="30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Developed By:</a:t>
            </a:r>
          </a:p>
        </p:txBody>
      </p:sp>
      <p:sp>
        <p:nvSpPr>
          <p:cNvPr id="450" name="Text 2"/>
          <p:cNvSpPr txBox="1"/>
          <p:nvPr/>
        </p:nvSpPr>
        <p:spPr>
          <a:xfrm>
            <a:off x="863797" y="3908583"/>
            <a:ext cx="3457192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Aryan Rajesh Gadam – 123CS0020</a:t>
            </a:r>
          </a:p>
        </p:txBody>
      </p:sp>
      <p:sp>
        <p:nvSpPr>
          <p:cNvPr id="451" name="Text 3"/>
          <p:cNvSpPr txBox="1"/>
          <p:nvPr/>
        </p:nvSpPr>
        <p:spPr>
          <a:xfrm>
            <a:off x="863797" y="4475439"/>
            <a:ext cx="2761526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Tagore Jagata – 123CS0042</a:t>
            </a:r>
          </a:p>
        </p:txBody>
      </p:sp>
      <p:sp>
        <p:nvSpPr>
          <p:cNvPr id="452" name="Text 4"/>
          <p:cNvSpPr txBox="1"/>
          <p:nvPr/>
        </p:nvSpPr>
        <p:spPr>
          <a:xfrm>
            <a:off x="863797" y="5042296"/>
            <a:ext cx="3596452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KTM Workshop Management System</a:t>
            </a:r>
          </a:p>
        </p:txBody>
      </p:sp>
      <p:sp>
        <p:nvSpPr>
          <p:cNvPr id="453" name="Text 5"/>
          <p:cNvSpPr txBox="1"/>
          <p:nvPr/>
        </p:nvSpPr>
        <p:spPr>
          <a:xfrm>
            <a:off x="863797" y="5609152"/>
            <a:ext cx="3701134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7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PostgreSQL Database Implementation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